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21945600" cy="32918400"/>
  <p:notesSz cx="32918400" cy="219456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2" d="100"/>
          <a:sy n="62" d="100"/>
        </p:scale>
        <p:origin x="1152" y="-70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7803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E7D0"/>
        </a:solidFill>
        <a:effectLst/>
      </p:bgPr>
    </p:bg>
    <p:spTree>
      <p:nvGrpSpPr>
        <p:cNvPr id="1" name=""/>
        <p:cNvGrpSpPr/>
        <p:nvPr/>
      </p:nvGrpSpPr>
      <p:grpSpPr>
        <a:xfrm>
          <a:off x="0" y="0"/>
          <a:ext cx="0" cy="0"/>
          <a:chOff x="0" y="0"/>
          <a:chExt cx="0" cy="0"/>
        </a:xfrm>
      </p:grpSpPr>
      <p:sp>
        <p:nvSpPr>
          <p:cNvPr id="2" name="Shape 0"/>
          <p:cNvSpPr/>
          <p:nvPr/>
        </p:nvSpPr>
        <p:spPr>
          <a:xfrm>
            <a:off x="0" y="0"/>
            <a:ext cx="21945600" cy="1371600"/>
          </a:xfrm>
          <a:prstGeom prst="rect">
            <a:avLst/>
          </a:prstGeom>
          <a:solidFill>
            <a:srgbClr val="0F2847"/>
          </a:solidFill>
          <a:ln w="12700">
            <a:solidFill>
              <a:srgbClr val="0F2847"/>
            </a:solidFill>
            <a:prstDash val="solid"/>
          </a:ln>
        </p:spPr>
        <p:txBody>
          <a:bodyPr/>
          <a:lstStyle/>
          <a:p>
            <a:endParaRPr lang="en-US"/>
          </a:p>
        </p:txBody>
      </p:sp>
      <p:pic>
        <p:nvPicPr>
          <p:cNvPr id="3" name="Image 0" descr="/home/claude/poster/logo_byu.jpg"/>
          <p:cNvPicPr>
            <a:picLocks noChangeAspect="1"/>
          </p:cNvPicPr>
          <p:nvPr/>
        </p:nvPicPr>
        <p:blipFill>
          <a:blip r:embed="rId3"/>
          <a:stretch>
            <a:fillRect/>
          </a:stretch>
        </p:blipFill>
        <p:spPr>
          <a:xfrm>
            <a:off x="548640" y="91440"/>
            <a:ext cx="1188720" cy="1188720"/>
          </a:xfrm>
          <a:prstGeom prst="rect">
            <a:avLst/>
          </a:prstGeom>
        </p:spPr>
      </p:pic>
      <p:pic>
        <p:nvPicPr>
          <p:cNvPr id="4" name="Image 1" descr="/home/claude/poster/logo_geoglows.png"/>
          <p:cNvPicPr>
            <a:picLocks noChangeAspect="1"/>
          </p:cNvPicPr>
          <p:nvPr/>
        </p:nvPicPr>
        <p:blipFill>
          <a:blip r:embed="rId4"/>
          <a:stretch>
            <a:fillRect/>
          </a:stretch>
        </p:blipFill>
        <p:spPr>
          <a:xfrm>
            <a:off x="9555163" y="251460"/>
            <a:ext cx="2835275" cy="868680"/>
          </a:xfrm>
          <a:prstGeom prst="rect">
            <a:avLst/>
          </a:prstGeom>
        </p:spPr>
      </p:pic>
      <p:pic>
        <p:nvPicPr>
          <p:cNvPr id="5" name="Image 2" descr="/home/claude/poster/logo_ciroh.png"/>
          <p:cNvPicPr>
            <a:picLocks noChangeAspect="1"/>
          </p:cNvPicPr>
          <p:nvPr/>
        </p:nvPicPr>
        <p:blipFill>
          <a:blip r:embed="rId5"/>
          <a:stretch>
            <a:fillRect/>
          </a:stretch>
        </p:blipFill>
        <p:spPr>
          <a:xfrm>
            <a:off x="20208240" y="91440"/>
            <a:ext cx="1188720" cy="1188720"/>
          </a:xfrm>
          <a:prstGeom prst="rect">
            <a:avLst/>
          </a:prstGeom>
        </p:spPr>
      </p:pic>
      <p:sp>
        <p:nvSpPr>
          <p:cNvPr id="6" name="Shape 1"/>
          <p:cNvSpPr/>
          <p:nvPr/>
        </p:nvSpPr>
        <p:spPr>
          <a:xfrm>
            <a:off x="0" y="1371600"/>
            <a:ext cx="21945600" cy="1234440"/>
          </a:xfrm>
          <a:prstGeom prst="rect">
            <a:avLst/>
          </a:prstGeom>
          <a:solidFill>
            <a:srgbClr val="0F2847"/>
          </a:solidFill>
          <a:ln w="12700">
            <a:solidFill>
              <a:srgbClr val="0F2847"/>
            </a:solidFill>
            <a:prstDash val="solid"/>
          </a:ln>
        </p:spPr>
        <p:txBody>
          <a:bodyPr/>
          <a:lstStyle/>
          <a:p>
            <a:endParaRPr lang="en-US"/>
          </a:p>
        </p:txBody>
      </p:sp>
      <p:sp>
        <p:nvSpPr>
          <p:cNvPr id="7" name="Shape 2"/>
          <p:cNvSpPr/>
          <p:nvPr/>
        </p:nvSpPr>
        <p:spPr>
          <a:xfrm>
            <a:off x="0" y="2606040"/>
            <a:ext cx="21945600" cy="109728"/>
          </a:xfrm>
          <a:prstGeom prst="rect">
            <a:avLst/>
          </a:prstGeom>
          <a:solidFill>
            <a:srgbClr val="E8B830"/>
          </a:solidFill>
          <a:ln w="12700">
            <a:solidFill>
              <a:srgbClr val="E8B830"/>
            </a:solidFill>
            <a:prstDash val="solid"/>
          </a:ln>
        </p:spPr>
        <p:txBody>
          <a:bodyPr/>
          <a:lstStyle/>
          <a:p>
            <a:endParaRPr lang="en-US"/>
          </a:p>
        </p:txBody>
      </p:sp>
      <p:sp>
        <p:nvSpPr>
          <p:cNvPr id="8" name="Shape 3"/>
          <p:cNvSpPr/>
          <p:nvPr/>
        </p:nvSpPr>
        <p:spPr>
          <a:xfrm>
            <a:off x="0" y="2715768"/>
            <a:ext cx="21945600" cy="54864"/>
          </a:xfrm>
          <a:prstGeom prst="rect">
            <a:avLst/>
          </a:prstGeom>
          <a:solidFill>
            <a:srgbClr val="4A9FBA"/>
          </a:solidFill>
          <a:ln w="12700">
            <a:solidFill>
              <a:srgbClr val="4A9FBA"/>
            </a:solidFill>
            <a:prstDash val="solid"/>
          </a:ln>
        </p:spPr>
        <p:txBody>
          <a:bodyPr/>
          <a:lstStyle/>
          <a:p>
            <a:endParaRPr lang="en-US"/>
          </a:p>
        </p:txBody>
      </p:sp>
      <p:sp>
        <p:nvSpPr>
          <p:cNvPr id="9" name="Text 4"/>
          <p:cNvSpPr/>
          <p:nvPr/>
        </p:nvSpPr>
        <p:spPr>
          <a:xfrm>
            <a:off x="365760" y="1463040"/>
            <a:ext cx="2121408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Liquid Neural Network–Based Imputation of Missing Groundwater Time Series Under Sparse Observations</a:t>
            </a:r>
            <a:endParaRPr lang="en-US" sz="2400" dirty="0"/>
          </a:p>
        </p:txBody>
      </p:sp>
      <p:sp>
        <p:nvSpPr>
          <p:cNvPr id="10" name="Text 5"/>
          <p:cNvSpPr/>
          <p:nvPr/>
        </p:nvSpPr>
        <p:spPr>
          <a:xfrm>
            <a:off x="457200" y="2029968"/>
            <a:ext cx="21031200" cy="29260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Henok Teklu¹,  Norman L. Jones¹,  Gustavious P. Williams¹</a:t>
            </a:r>
            <a:endParaRPr lang="en-US" sz="1800" dirty="0"/>
          </a:p>
        </p:txBody>
      </p:sp>
      <p:sp>
        <p:nvSpPr>
          <p:cNvPr id="11" name="Text 6"/>
          <p:cNvSpPr/>
          <p:nvPr/>
        </p:nvSpPr>
        <p:spPr>
          <a:xfrm>
            <a:off x="457200" y="2322576"/>
            <a:ext cx="21031200" cy="219456"/>
          </a:xfrm>
          <a:prstGeom prst="rect">
            <a:avLst/>
          </a:prstGeom>
          <a:noFill/>
          <a:ln/>
        </p:spPr>
        <p:txBody>
          <a:bodyPr wrap="square" lIns="0" tIns="0" rIns="0" bIns="0" rtlCol="0" anchor="ctr"/>
          <a:lstStyle/>
          <a:p>
            <a:pPr marL="0" indent="0" algn="ctr">
              <a:buNone/>
            </a:pPr>
            <a:r>
              <a:rPr lang="en-US" sz="1300" i="1" dirty="0">
                <a:solidFill>
                  <a:srgbClr val="BBD0E0"/>
                </a:solidFill>
                <a:latin typeface="Calibri" pitchFamily="34" charset="0"/>
                <a:ea typeface="Calibri" pitchFamily="34" charset="-122"/>
                <a:cs typeface="Calibri" pitchFamily="34" charset="-120"/>
              </a:rPr>
              <a:t>¹Brigham Young University  ·  Department of Civil &amp; Construction Engineering</a:t>
            </a:r>
            <a:endParaRPr lang="en-US" sz="1300" dirty="0"/>
          </a:p>
        </p:txBody>
      </p:sp>
      <p:sp>
        <p:nvSpPr>
          <p:cNvPr id="12" name="Shape 7"/>
          <p:cNvSpPr/>
          <p:nvPr/>
        </p:nvSpPr>
        <p:spPr>
          <a:xfrm>
            <a:off x="182880" y="2807208"/>
            <a:ext cx="10881360" cy="28648152"/>
          </a:xfrm>
          <a:prstGeom prst="rect">
            <a:avLst/>
          </a:prstGeom>
          <a:solidFill>
            <a:srgbClr val="FFFFFF"/>
          </a:solidFill>
          <a:ln w="12700">
            <a:solidFill>
              <a:srgbClr val="E5D8B6"/>
            </a:solidFill>
            <a:prstDash val="solid"/>
          </a:ln>
        </p:spPr>
        <p:txBody>
          <a:bodyPr/>
          <a:lstStyle/>
          <a:p>
            <a:endParaRPr lang="en-US"/>
          </a:p>
        </p:txBody>
      </p:sp>
      <p:sp>
        <p:nvSpPr>
          <p:cNvPr id="13" name="Shape 8"/>
          <p:cNvSpPr/>
          <p:nvPr/>
        </p:nvSpPr>
        <p:spPr>
          <a:xfrm>
            <a:off x="10881360" y="2807208"/>
            <a:ext cx="10881360" cy="28648152"/>
          </a:xfrm>
          <a:prstGeom prst="rect">
            <a:avLst/>
          </a:prstGeom>
          <a:solidFill>
            <a:srgbClr val="FFFFFF"/>
          </a:solidFill>
          <a:ln w="12700">
            <a:solidFill>
              <a:srgbClr val="E5D8B6"/>
            </a:solidFill>
            <a:prstDash val="solid"/>
          </a:ln>
        </p:spPr>
        <p:txBody>
          <a:bodyPr/>
          <a:lstStyle/>
          <a:p>
            <a:endParaRPr lang="en-US"/>
          </a:p>
        </p:txBody>
      </p:sp>
      <p:sp>
        <p:nvSpPr>
          <p:cNvPr id="14" name="Shape 9"/>
          <p:cNvSpPr/>
          <p:nvPr/>
        </p:nvSpPr>
        <p:spPr>
          <a:xfrm>
            <a:off x="457200" y="2971800"/>
            <a:ext cx="868680" cy="868680"/>
          </a:xfrm>
          <a:prstGeom prst="ellipse">
            <a:avLst/>
          </a:prstGeom>
          <a:solidFill>
            <a:srgbClr val="1B6E8C"/>
          </a:solidFill>
          <a:ln w="12700">
            <a:solidFill>
              <a:srgbClr val="1B6E8C"/>
            </a:solidFill>
            <a:prstDash val="solid"/>
          </a:ln>
        </p:spPr>
        <p:txBody>
          <a:bodyPr/>
          <a:lstStyle/>
          <a:p>
            <a:endParaRPr lang="en-US"/>
          </a:p>
        </p:txBody>
      </p:sp>
      <p:sp>
        <p:nvSpPr>
          <p:cNvPr id="15" name="Text 10"/>
          <p:cNvSpPr/>
          <p:nvPr/>
        </p:nvSpPr>
        <p:spPr>
          <a:xfrm>
            <a:off x="457200" y="2971800"/>
            <a:ext cx="868680" cy="86868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1</a:t>
            </a:r>
            <a:endParaRPr lang="en-US" sz="4000" dirty="0"/>
          </a:p>
        </p:txBody>
      </p:sp>
      <p:sp>
        <p:nvSpPr>
          <p:cNvPr id="16" name="Text 11"/>
          <p:cNvSpPr/>
          <p:nvPr/>
        </p:nvSpPr>
        <p:spPr>
          <a:xfrm>
            <a:off x="1463040" y="2971800"/>
            <a:ext cx="9326880" cy="868680"/>
          </a:xfrm>
          <a:prstGeom prst="rect">
            <a:avLst/>
          </a:prstGeom>
          <a:noFill/>
          <a:ln/>
        </p:spPr>
        <p:txBody>
          <a:bodyPr wrap="square" lIns="0" tIns="0" rIns="0" bIns="0" rtlCol="0" anchor="ctr"/>
          <a:lstStyle/>
          <a:p>
            <a:pPr marL="0" indent="0" algn="l">
              <a:buNone/>
            </a:pPr>
            <a:r>
              <a:rPr lang="en-US" sz="3400" b="1" dirty="0">
                <a:solidFill>
                  <a:srgbClr val="0F2847"/>
                </a:solidFill>
                <a:latin typeface="Calibri" pitchFamily="34" charset="0"/>
                <a:ea typeface="Calibri" pitchFamily="34" charset="-122"/>
                <a:cs typeface="Calibri" pitchFamily="34" charset="-120"/>
              </a:rPr>
              <a:t>The Problem</a:t>
            </a:r>
            <a:endParaRPr lang="en-US" sz="3400" dirty="0"/>
          </a:p>
        </p:txBody>
      </p:sp>
      <p:sp>
        <p:nvSpPr>
          <p:cNvPr id="17" name="Shape 12"/>
          <p:cNvSpPr/>
          <p:nvPr/>
        </p:nvSpPr>
        <p:spPr>
          <a:xfrm>
            <a:off x="1463040" y="3776472"/>
            <a:ext cx="9326880" cy="54864"/>
          </a:xfrm>
          <a:prstGeom prst="rect">
            <a:avLst/>
          </a:prstGeom>
          <a:solidFill>
            <a:srgbClr val="1B6E8C"/>
          </a:solidFill>
          <a:ln w="12700">
            <a:solidFill>
              <a:srgbClr val="1B6E8C"/>
            </a:solidFill>
            <a:prstDash val="solid"/>
          </a:ln>
        </p:spPr>
        <p:txBody>
          <a:bodyPr/>
          <a:lstStyle/>
          <a:p>
            <a:endParaRPr lang="en-US"/>
          </a:p>
        </p:txBody>
      </p:sp>
      <p:sp>
        <p:nvSpPr>
          <p:cNvPr id="18" name="Text 13"/>
          <p:cNvSpPr/>
          <p:nvPr/>
        </p:nvSpPr>
        <p:spPr>
          <a:xfrm>
            <a:off x="457200" y="4023360"/>
            <a:ext cx="10332720" cy="986912"/>
          </a:xfrm>
          <a:prstGeom prst="rect">
            <a:avLst/>
          </a:prstGeom>
          <a:noFill/>
          <a:ln/>
        </p:spPr>
        <p:txBody>
          <a:bodyPr wrap="square" lIns="635" tIns="635" rIns="635" bIns="635" rtlCol="0" anchor="t"/>
          <a:lstStyle/>
          <a:p>
            <a:pPr marL="0" indent="0" algn="l">
              <a:spcAft>
                <a:spcPts val="400"/>
              </a:spcAft>
              <a:buNone/>
            </a:pPr>
            <a:r>
              <a:rPr lang="en-US" sz="2100" dirty="0">
                <a:solidFill>
                  <a:srgbClr val="0F2847"/>
                </a:solidFill>
                <a:latin typeface="Calibri" pitchFamily="34" charset="0"/>
                <a:ea typeface="Calibri" pitchFamily="34" charset="-122"/>
                <a:cs typeface="Calibri" pitchFamily="34" charset="-120"/>
              </a:rPr>
              <a:t>Groundwater monitoring wells are the primary source of water-table elevation (WTE) data, yet public databases worldwide suffer from temporal gaps spanning months to years. </a:t>
            </a:r>
            <a:endParaRPr lang="en-US" sz="2100" dirty="0"/>
          </a:p>
        </p:txBody>
      </p:sp>
      <p:pic>
        <p:nvPicPr>
          <p:cNvPr id="19" name="Image 3" descr="/home/claude/poster/gap_fig.png"/>
          <p:cNvPicPr>
            <a:picLocks noChangeAspect="1"/>
          </p:cNvPicPr>
          <p:nvPr/>
        </p:nvPicPr>
        <p:blipFill>
          <a:blip r:embed="rId6"/>
          <a:stretch>
            <a:fillRect/>
          </a:stretch>
        </p:blipFill>
        <p:spPr>
          <a:xfrm>
            <a:off x="457200" y="5555846"/>
            <a:ext cx="10332720" cy="4649724"/>
          </a:xfrm>
          <a:prstGeom prst="rect">
            <a:avLst/>
          </a:prstGeom>
        </p:spPr>
      </p:pic>
      <p:sp>
        <p:nvSpPr>
          <p:cNvPr id="20" name="Shape 14"/>
          <p:cNvSpPr/>
          <p:nvPr/>
        </p:nvSpPr>
        <p:spPr>
          <a:xfrm>
            <a:off x="457200" y="10821924"/>
            <a:ext cx="868680" cy="868680"/>
          </a:xfrm>
          <a:prstGeom prst="ellipse">
            <a:avLst/>
          </a:prstGeom>
          <a:solidFill>
            <a:srgbClr val="1B6E8C"/>
          </a:solidFill>
          <a:ln w="12700">
            <a:solidFill>
              <a:srgbClr val="1B6E8C"/>
            </a:solidFill>
            <a:prstDash val="solid"/>
          </a:ln>
        </p:spPr>
        <p:txBody>
          <a:bodyPr/>
          <a:lstStyle/>
          <a:p>
            <a:endParaRPr lang="en-US"/>
          </a:p>
        </p:txBody>
      </p:sp>
      <p:sp>
        <p:nvSpPr>
          <p:cNvPr id="21" name="Text 15"/>
          <p:cNvSpPr/>
          <p:nvPr/>
        </p:nvSpPr>
        <p:spPr>
          <a:xfrm>
            <a:off x="457200" y="10821924"/>
            <a:ext cx="868680" cy="86868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2</a:t>
            </a:r>
            <a:endParaRPr lang="en-US" sz="4000" dirty="0"/>
          </a:p>
        </p:txBody>
      </p:sp>
      <p:sp>
        <p:nvSpPr>
          <p:cNvPr id="22" name="Text 16"/>
          <p:cNvSpPr/>
          <p:nvPr/>
        </p:nvSpPr>
        <p:spPr>
          <a:xfrm>
            <a:off x="1463040" y="10821924"/>
            <a:ext cx="9326880" cy="868680"/>
          </a:xfrm>
          <a:prstGeom prst="rect">
            <a:avLst/>
          </a:prstGeom>
          <a:noFill/>
          <a:ln/>
        </p:spPr>
        <p:txBody>
          <a:bodyPr wrap="square" lIns="0" tIns="0" rIns="0" bIns="0" rtlCol="0" anchor="ctr"/>
          <a:lstStyle/>
          <a:p>
            <a:pPr marL="0" indent="0" algn="l">
              <a:buNone/>
            </a:pPr>
            <a:r>
              <a:rPr lang="en-US" sz="3400" b="1" dirty="0">
                <a:solidFill>
                  <a:srgbClr val="0F2847"/>
                </a:solidFill>
                <a:latin typeface="Calibri" pitchFamily="34" charset="0"/>
                <a:ea typeface="Calibri" pitchFamily="34" charset="-122"/>
                <a:cs typeface="Calibri" pitchFamily="34" charset="-120"/>
              </a:rPr>
              <a:t>Matrix Completion</a:t>
            </a:r>
            <a:endParaRPr lang="en-US" sz="3400" dirty="0"/>
          </a:p>
        </p:txBody>
      </p:sp>
      <p:sp>
        <p:nvSpPr>
          <p:cNvPr id="23" name="Shape 17"/>
          <p:cNvSpPr/>
          <p:nvPr/>
        </p:nvSpPr>
        <p:spPr>
          <a:xfrm>
            <a:off x="1463040" y="11626596"/>
            <a:ext cx="9326880" cy="54864"/>
          </a:xfrm>
          <a:prstGeom prst="rect">
            <a:avLst/>
          </a:prstGeom>
          <a:solidFill>
            <a:srgbClr val="1B6E8C"/>
          </a:solidFill>
          <a:ln w="12700">
            <a:solidFill>
              <a:srgbClr val="1B6E8C"/>
            </a:solidFill>
            <a:prstDash val="solid"/>
          </a:ln>
        </p:spPr>
        <p:txBody>
          <a:bodyPr/>
          <a:lstStyle/>
          <a:p>
            <a:endParaRPr lang="en-US"/>
          </a:p>
        </p:txBody>
      </p:sp>
      <p:sp>
        <p:nvSpPr>
          <p:cNvPr id="24" name="Text 18"/>
          <p:cNvSpPr/>
          <p:nvPr/>
        </p:nvSpPr>
        <p:spPr>
          <a:xfrm>
            <a:off x="457200" y="11873484"/>
            <a:ext cx="10332720" cy="1600200"/>
          </a:xfrm>
          <a:prstGeom prst="rect">
            <a:avLst/>
          </a:prstGeom>
          <a:noFill/>
          <a:ln/>
        </p:spPr>
        <p:txBody>
          <a:bodyPr wrap="square" lIns="635" tIns="635" rIns="635" bIns="635" rtlCol="0" anchor="t"/>
          <a:lstStyle/>
          <a:p>
            <a:pPr>
              <a:spcAft>
                <a:spcPts val="400"/>
              </a:spcAft>
            </a:pPr>
            <a:r>
              <a:rPr lang="en-US" sz="2100" dirty="0">
                <a:solidFill>
                  <a:srgbClr val="0F2847"/>
                </a:solidFill>
                <a:latin typeface="Calibri" pitchFamily="34" charset="0"/>
                <a:ea typeface="Calibri" pitchFamily="34" charset="-122"/>
                <a:cs typeface="Calibri" pitchFamily="34" charset="-120"/>
              </a:rPr>
              <a:t>Wells share patterns — seasonal cycles, drought responses, recharge trends — so the well × time matrix is approximately low-rank. Iterative SVD (SoftImpute) simultaneously recovers missing entries from observed entries across wells.</a:t>
            </a:r>
            <a:endParaRPr lang="en-US" sz="2100" dirty="0"/>
          </a:p>
        </p:txBody>
      </p:sp>
      <p:sp>
        <p:nvSpPr>
          <p:cNvPr id="25" name="Shape 19"/>
          <p:cNvSpPr/>
          <p:nvPr/>
        </p:nvSpPr>
        <p:spPr>
          <a:xfrm>
            <a:off x="502920" y="13656564"/>
            <a:ext cx="347472" cy="347472"/>
          </a:xfrm>
          <a:prstGeom prst="ellipse">
            <a:avLst/>
          </a:prstGeom>
          <a:solidFill>
            <a:srgbClr val="4A9FBA"/>
          </a:solidFill>
          <a:ln w="9525">
            <a:solidFill>
              <a:srgbClr val="0F2847"/>
            </a:solidFill>
            <a:prstDash val="solid"/>
          </a:ln>
        </p:spPr>
        <p:txBody>
          <a:bodyPr/>
          <a:lstStyle/>
          <a:p>
            <a:endParaRPr lang="en-US"/>
          </a:p>
        </p:txBody>
      </p:sp>
      <p:sp>
        <p:nvSpPr>
          <p:cNvPr id="26" name="Text 20"/>
          <p:cNvSpPr/>
          <p:nvPr/>
        </p:nvSpPr>
        <p:spPr>
          <a:xfrm>
            <a:off x="1005840" y="13565124"/>
            <a:ext cx="9784080" cy="530352"/>
          </a:xfrm>
          <a:prstGeom prst="rect">
            <a:avLst/>
          </a:prstGeom>
          <a:noFill/>
          <a:ln/>
        </p:spPr>
        <p:txBody>
          <a:bodyPr wrap="square" lIns="0" tIns="0" rIns="0" bIns="0" rtlCol="0" anchor="ctr"/>
          <a:lstStyle/>
          <a:p>
            <a:pPr marL="0" indent="0">
              <a:buNone/>
            </a:pPr>
            <a:r>
              <a:rPr lang="en-US" sz="2100" b="1" dirty="0">
                <a:solidFill>
                  <a:srgbClr val="0F2847"/>
                </a:solidFill>
                <a:latin typeface="Calibri" pitchFamily="34" charset="0"/>
                <a:ea typeface="Calibri" pitchFamily="34" charset="-122"/>
                <a:cs typeface="Calibri" pitchFamily="34" charset="-120"/>
              </a:rPr>
              <a:t>Target well  </a:t>
            </a:r>
            <a:r>
              <a:rPr lang="en-US" sz="1800" i="1" dirty="0">
                <a:solidFill>
                  <a:srgbClr val="1B6E8C"/>
                </a:solidFill>
                <a:latin typeface="Calibri" pitchFamily="34" charset="0"/>
                <a:ea typeface="Calibri" pitchFamily="34" charset="-122"/>
                <a:cs typeface="Calibri" pitchFamily="34" charset="-120"/>
              </a:rPr>
              <a:t>observed values + gaps</a:t>
            </a:r>
            <a:endParaRPr lang="en-US" sz="2100" dirty="0"/>
          </a:p>
        </p:txBody>
      </p:sp>
      <p:sp>
        <p:nvSpPr>
          <p:cNvPr id="27" name="Shape 21"/>
          <p:cNvSpPr/>
          <p:nvPr/>
        </p:nvSpPr>
        <p:spPr>
          <a:xfrm>
            <a:off x="502920" y="14186916"/>
            <a:ext cx="347472" cy="347472"/>
          </a:xfrm>
          <a:prstGeom prst="ellipse">
            <a:avLst/>
          </a:prstGeom>
          <a:solidFill>
            <a:srgbClr val="1B6E8C"/>
          </a:solidFill>
          <a:ln w="9525">
            <a:solidFill>
              <a:srgbClr val="0F2847"/>
            </a:solidFill>
            <a:prstDash val="solid"/>
          </a:ln>
        </p:spPr>
        <p:txBody>
          <a:bodyPr/>
          <a:lstStyle/>
          <a:p>
            <a:endParaRPr lang="en-US"/>
          </a:p>
        </p:txBody>
      </p:sp>
      <p:sp>
        <p:nvSpPr>
          <p:cNvPr id="28" name="Text 22"/>
          <p:cNvSpPr/>
          <p:nvPr/>
        </p:nvSpPr>
        <p:spPr>
          <a:xfrm>
            <a:off x="1005840" y="14095476"/>
            <a:ext cx="9784080" cy="530352"/>
          </a:xfrm>
          <a:prstGeom prst="rect">
            <a:avLst/>
          </a:prstGeom>
          <a:noFill/>
          <a:ln/>
        </p:spPr>
        <p:txBody>
          <a:bodyPr wrap="square" lIns="0" tIns="0" rIns="0" bIns="0" rtlCol="0" anchor="ctr"/>
          <a:lstStyle/>
          <a:p>
            <a:pPr marL="0" indent="0">
              <a:buNone/>
            </a:pPr>
            <a:r>
              <a:rPr lang="en-US" sz="2100" b="1" dirty="0">
                <a:solidFill>
                  <a:srgbClr val="0F2847"/>
                </a:solidFill>
                <a:latin typeface="Calibri" pitchFamily="34" charset="0"/>
                <a:ea typeface="Calibri" pitchFamily="34" charset="-122"/>
                <a:cs typeface="Calibri" pitchFamily="34" charset="-120"/>
              </a:rPr>
              <a:t>15 donor wells  </a:t>
            </a:r>
            <a:r>
              <a:rPr lang="en-US" sz="1800" i="1" dirty="0">
                <a:solidFill>
                  <a:srgbClr val="1B6E8C"/>
                </a:solidFill>
                <a:latin typeface="Calibri" pitchFamily="34" charset="0"/>
                <a:ea typeface="Calibri" pitchFamily="34" charset="-122"/>
                <a:cs typeface="Calibri" pitchFamily="34" charset="-120"/>
              </a:rPr>
              <a:t>top-correlated, Pearson-weighted</a:t>
            </a:r>
            <a:endParaRPr lang="en-US" sz="2100" dirty="0"/>
          </a:p>
        </p:txBody>
      </p:sp>
      <p:sp>
        <p:nvSpPr>
          <p:cNvPr id="29" name="Shape 23"/>
          <p:cNvSpPr/>
          <p:nvPr/>
        </p:nvSpPr>
        <p:spPr>
          <a:xfrm>
            <a:off x="502920" y="14717268"/>
            <a:ext cx="347472" cy="347472"/>
          </a:xfrm>
          <a:prstGeom prst="ellipse">
            <a:avLst/>
          </a:prstGeom>
          <a:solidFill>
            <a:srgbClr val="3F8B5B"/>
          </a:solidFill>
          <a:ln w="9525">
            <a:solidFill>
              <a:srgbClr val="0F2847"/>
            </a:solidFill>
            <a:prstDash val="solid"/>
          </a:ln>
        </p:spPr>
        <p:txBody>
          <a:bodyPr/>
          <a:lstStyle/>
          <a:p>
            <a:endParaRPr lang="en-US"/>
          </a:p>
        </p:txBody>
      </p:sp>
      <p:sp>
        <p:nvSpPr>
          <p:cNvPr id="30" name="Text 24"/>
          <p:cNvSpPr/>
          <p:nvPr/>
        </p:nvSpPr>
        <p:spPr>
          <a:xfrm>
            <a:off x="1005840" y="14625828"/>
            <a:ext cx="9784080" cy="530352"/>
          </a:xfrm>
          <a:prstGeom prst="rect">
            <a:avLst/>
          </a:prstGeom>
          <a:noFill/>
          <a:ln/>
        </p:spPr>
        <p:txBody>
          <a:bodyPr wrap="square" lIns="0" tIns="0" rIns="0" bIns="0" rtlCol="0" anchor="ctr"/>
          <a:lstStyle/>
          <a:p>
            <a:pPr marL="0" indent="0">
              <a:buNone/>
            </a:pPr>
            <a:r>
              <a:rPr lang="en-US" sz="2100" b="1" dirty="0">
                <a:solidFill>
                  <a:srgbClr val="0F2847"/>
                </a:solidFill>
                <a:latin typeface="Calibri" pitchFamily="34" charset="0"/>
                <a:ea typeface="Calibri" pitchFamily="34" charset="-122"/>
                <a:cs typeface="Calibri" pitchFamily="34" charset="-120"/>
              </a:rPr>
              <a:t>5 GLDAS rows  </a:t>
            </a:r>
            <a:r>
              <a:rPr lang="en-US" sz="1800" i="1" dirty="0">
                <a:solidFill>
                  <a:srgbClr val="1B6E8C"/>
                </a:solidFill>
                <a:latin typeface="Calibri" pitchFamily="34" charset="0"/>
                <a:ea typeface="Calibri" pitchFamily="34" charset="-122"/>
                <a:cs typeface="Calibri" pitchFamily="34" charset="-120"/>
              </a:rPr>
              <a:t>monthly + 1/3/5/10-yr rolling avgs</a:t>
            </a:r>
            <a:endParaRPr lang="en-US" sz="2100" dirty="0"/>
          </a:p>
        </p:txBody>
      </p:sp>
      <p:sp>
        <p:nvSpPr>
          <p:cNvPr id="31" name="Shape 25"/>
          <p:cNvSpPr/>
          <p:nvPr/>
        </p:nvSpPr>
        <p:spPr>
          <a:xfrm>
            <a:off x="502920" y="15247620"/>
            <a:ext cx="347472" cy="347472"/>
          </a:xfrm>
          <a:prstGeom prst="ellipse">
            <a:avLst/>
          </a:prstGeom>
          <a:solidFill>
            <a:srgbClr val="E8B830"/>
          </a:solidFill>
          <a:ln w="9525">
            <a:solidFill>
              <a:srgbClr val="0F2847"/>
            </a:solidFill>
            <a:prstDash val="solid"/>
          </a:ln>
        </p:spPr>
        <p:txBody>
          <a:bodyPr/>
          <a:lstStyle/>
          <a:p>
            <a:endParaRPr lang="en-US"/>
          </a:p>
        </p:txBody>
      </p:sp>
      <p:sp>
        <p:nvSpPr>
          <p:cNvPr id="32" name="Text 26"/>
          <p:cNvSpPr/>
          <p:nvPr/>
        </p:nvSpPr>
        <p:spPr>
          <a:xfrm>
            <a:off x="1005840" y="15156180"/>
            <a:ext cx="9784080" cy="530352"/>
          </a:xfrm>
          <a:prstGeom prst="rect">
            <a:avLst/>
          </a:prstGeom>
          <a:noFill/>
          <a:ln/>
        </p:spPr>
        <p:txBody>
          <a:bodyPr wrap="square" lIns="0" tIns="0" rIns="0" bIns="0" rtlCol="0" anchor="ctr"/>
          <a:lstStyle/>
          <a:p>
            <a:pPr marL="0" indent="0">
              <a:buNone/>
            </a:pPr>
            <a:r>
              <a:rPr lang="en-US" sz="2100" b="1" dirty="0">
                <a:solidFill>
                  <a:srgbClr val="0F2847"/>
                </a:solidFill>
                <a:latin typeface="Calibri" pitchFamily="34" charset="0"/>
                <a:ea typeface="Calibri" pitchFamily="34" charset="-122"/>
                <a:cs typeface="Calibri" pitchFamily="34" charset="-120"/>
              </a:rPr>
              <a:t>sin / cos  </a:t>
            </a:r>
            <a:r>
              <a:rPr lang="en-US" sz="1800" i="1" dirty="0">
                <a:solidFill>
                  <a:srgbClr val="1B6E8C"/>
                </a:solidFill>
                <a:latin typeface="Calibri" pitchFamily="34" charset="0"/>
                <a:ea typeface="Calibri" pitchFamily="34" charset="-122"/>
                <a:cs typeface="Calibri" pitchFamily="34" charset="-120"/>
              </a:rPr>
              <a:t>12-mo seasonal encoding</a:t>
            </a:r>
            <a:endParaRPr lang="en-US" sz="2100" dirty="0"/>
          </a:p>
        </p:txBody>
      </p:sp>
      <p:pic>
        <p:nvPicPr>
          <p:cNvPr id="33" name="Image 4" descr="/home/claude/poster/composite_matrix.png"/>
          <p:cNvPicPr>
            <a:picLocks noChangeAspect="1"/>
          </p:cNvPicPr>
          <p:nvPr/>
        </p:nvPicPr>
        <p:blipFill>
          <a:blip r:embed="rId7"/>
          <a:stretch>
            <a:fillRect/>
          </a:stretch>
        </p:blipFill>
        <p:spPr>
          <a:xfrm>
            <a:off x="457200" y="15915132"/>
            <a:ext cx="10332720" cy="6104915"/>
          </a:xfrm>
          <a:prstGeom prst="rect">
            <a:avLst/>
          </a:prstGeom>
        </p:spPr>
      </p:pic>
      <p:sp>
        <p:nvSpPr>
          <p:cNvPr id="34" name="Text 27"/>
          <p:cNvSpPr/>
          <p:nvPr/>
        </p:nvSpPr>
        <p:spPr>
          <a:xfrm>
            <a:off x="1067770" y="16955120"/>
            <a:ext cx="1596875" cy="187868"/>
          </a:xfrm>
          <a:prstGeom prst="rect">
            <a:avLst/>
          </a:prstGeom>
          <a:noFill/>
          <a:ln/>
        </p:spPr>
        <p:txBody>
          <a:bodyPr wrap="square" lIns="0" tIns="0" rIns="0" bIns="0" rtlCol="0" anchor="ctr"/>
          <a:lstStyle/>
          <a:p>
            <a:pPr marL="0" indent="0" algn="l">
              <a:buNone/>
            </a:pPr>
            <a:r>
              <a:rPr lang="en-US" sz="1400" b="1" dirty="0">
                <a:solidFill>
                  <a:srgbClr val="0F2847"/>
                </a:solidFill>
                <a:latin typeface="Calibri" pitchFamily="34" charset="0"/>
                <a:ea typeface="Calibri" pitchFamily="34" charset="-122"/>
                <a:cs typeface="Calibri" pitchFamily="34" charset="-120"/>
              </a:rPr>
              <a:t>Target well</a:t>
            </a:r>
            <a:endParaRPr lang="en-US" sz="1400" dirty="0"/>
          </a:p>
        </p:txBody>
      </p:sp>
      <p:sp>
        <p:nvSpPr>
          <p:cNvPr id="35" name="Text 28"/>
          <p:cNvSpPr/>
          <p:nvPr/>
        </p:nvSpPr>
        <p:spPr>
          <a:xfrm>
            <a:off x="1067770" y="17161775"/>
            <a:ext cx="1596875" cy="150294"/>
          </a:xfrm>
          <a:prstGeom prst="rect">
            <a:avLst/>
          </a:prstGeom>
          <a:noFill/>
          <a:ln/>
        </p:spPr>
        <p:txBody>
          <a:bodyPr wrap="square" lIns="0" tIns="0" rIns="0" bIns="0" rtlCol="0" anchor="ctr"/>
          <a:lstStyle/>
          <a:p>
            <a:pPr marL="0" indent="0" algn="l">
              <a:buNone/>
            </a:pPr>
            <a:r>
              <a:rPr lang="en-US" sz="1000" i="1" dirty="0">
                <a:solidFill>
                  <a:srgbClr val="1B6E8C"/>
                </a:solidFill>
                <a:latin typeface="Calibri" pitchFamily="34" charset="0"/>
                <a:ea typeface="Calibri" pitchFamily="34" charset="-122"/>
                <a:cs typeface="Calibri" pitchFamily="34" charset="-120"/>
              </a:rPr>
              <a:t>to be imputed</a:t>
            </a:r>
            <a:endParaRPr lang="en-US" sz="1000" dirty="0"/>
          </a:p>
        </p:txBody>
      </p:sp>
      <p:sp>
        <p:nvSpPr>
          <p:cNvPr id="36" name="Text 29"/>
          <p:cNvSpPr/>
          <p:nvPr/>
        </p:nvSpPr>
        <p:spPr>
          <a:xfrm>
            <a:off x="1067770" y="17988439"/>
            <a:ext cx="1596875" cy="187868"/>
          </a:xfrm>
          <a:prstGeom prst="rect">
            <a:avLst/>
          </a:prstGeom>
          <a:noFill/>
          <a:ln/>
        </p:spPr>
        <p:txBody>
          <a:bodyPr wrap="square" lIns="0" tIns="0" rIns="0" bIns="0" rtlCol="0" anchor="ctr"/>
          <a:lstStyle/>
          <a:p>
            <a:pPr marL="0" indent="0" algn="l">
              <a:buNone/>
            </a:pPr>
            <a:r>
              <a:rPr lang="en-US" sz="1400" b="1" dirty="0">
                <a:solidFill>
                  <a:srgbClr val="0F2847"/>
                </a:solidFill>
                <a:latin typeface="Calibri" pitchFamily="34" charset="0"/>
                <a:ea typeface="Calibri" pitchFamily="34" charset="-122"/>
                <a:cs typeface="Calibri" pitchFamily="34" charset="-120"/>
              </a:rPr>
              <a:t>15 donor wells</a:t>
            </a:r>
            <a:endParaRPr lang="en-US" sz="1400" dirty="0"/>
          </a:p>
        </p:txBody>
      </p:sp>
      <p:sp>
        <p:nvSpPr>
          <p:cNvPr id="37" name="Text 30"/>
          <p:cNvSpPr/>
          <p:nvPr/>
        </p:nvSpPr>
        <p:spPr>
          <a:xfrm>
            <a:off x="1067770" y="18195094"/>
            <a:ext cx="1596875" cy="150294"/>
          </a:xfrm>
          <a:prstGeom prst="rect">
            <a:avLst/>
          </a:prstGeom>
          <a:noFill/>
          <a:ln/>
        </p:spPr>
        <p:txBody>
          <a:bodyPr wrap="square" lIns="0" tIns="0" rIns="0" bIns="0" rtlCol="0" anchor="ctr"/>
          <a:lstStyle/>
          <a:p>
            <a:pPr marL="0" indent="0" algn="l">
              <a:buNone/>
            </a:pPr>
            <a:r>
              <a:rPr lang="en-US" sz="1000" i="1" dirty="0">
                <a:solidFill>
                  <a:srgbClr val="1B6E8C"/>
                </a:solidFill>
                <a:latin typeface="Calibri" pitchFamily="34" charset="0"/>
                <a:ea typeface="Calibri" pitchFamily="34" charset="-122"/>
                <a:cs typeface="Calibri" pitchFamily="34" charset="-120"/>
              </a:rPr>
              <a:t>Pearson-weighted neighbors</a:t>
            </a:r>
            <a:endParaRPr lang="en-US" sz="1000" dirty="0"/>
          </a:p>
        </p:txBody>
      </p:sp>
      <p:sp>
        <p:nvSpPr>
          <p:cNvPr id="38" name="Text 31"/>
          <p:cNvSpPr/>
          <p:nvPr/>
        </p:nvSpPr>
        <p:spPr>
          <a:xfrm>
            <a:off x="1067770" y="19612226"/>
            <a:ext cx="1596875" cy="187868"/>
          </a:xfrm>
          <a:prstGeom prst="rect">
            <a:avLst/>
          </a:prstGeom>
          <a:noFill/>
          <a:ln/>
        </p:spPr>
        <p:txBody>
          <a:bodyPr wrap="square" lIns="0" tIns="0" rIns="0" bIns="0" rtlCol="0" anchor="ctr"/>
          <a:lstStyle/>
          <a:p>
            <a:pPr marL="0" indent="0" algn="l">
              <a:buNone/>
            </a:pPr>
            <a:r>
              <a:rPr lang="en-US" sz="1400" b="1" dirty="0">
                <a:solidFill>
                  <a:srgbClr val="0F2847"/>
                </a:solidFill>
                <a:latin typeface="Calibri" pitchFamily="34" charset="0"/>
                <a:ea typeface="Calibri" pitchFamily="34" charset="-122"/>
                <a:cs typeface="Calibri" pitchFamily="34" charset="-120"/>
              </a:rPr>
              <a:t>5 GLDAS aux. rows</a:t>
            </a:r>
            <a:endParaRPr lang="en-US" sz="1400" dirty="0"/>
          </a:p>
        </p:txBody>
      </p:sp>
      <p:sp>
        <p:nvSpPr>
          <p:cNvPr id="39" name="Text 32"/>
          <p:cNvSpPr/>
          <p:nvPr/>
        </p:nvSpPr>
        <p:spPr>
          <a:xfrm>
            <a:off x="1067770" y="19818881"/>
            <a:ext cx="1596875" cy="150294"/>
          </a:xfrm>
          <a:prstGeom prst="rect">
            <a:avLst/>
          </a:prstGeom>
          <a:noFill/>
          <a:ln/>
        </p:spPr>
        <p:txBody>
          <a:bodyPr wrap="square" lIns="0" tIns="0" rIns="0" bIns="0" rtlCol="0" anchor="ctr"/>
          <a:lstStyle/>
          <a:p>
            <a:pPr marL="0" indent="0" algn="l">
              <a:buNone/>
            </a:pPr>
            <a:r>
              <a:rPr lang="en-US" sz="1000" i="1" dirty="0">
                <a:solidFill>
                  <a:srgbClr val="1B6E8C"/>
                </a:solidFill>
                <a:latin typeface="Calibri" pitchFamily="34" charset="0"/>
                <a:ea typeface="Calibri" pitchFamily="34" charset="-122"/>
                <a:cs typeface="Calibri" pitchFamily="34" charset="-120"/>
              </a:rPr>
              <a:t>monthly + 1/3/5/10-yr avgs</a:t>
            </a:r>
            <a:endParaRPr lang="en-US" sz="1000" dirty="0"/>
          </a:p>
        </p:txBody>
      </p:sp>
      <p:sp>
        <p:nvSpPr>
          <p:cNvPr id="40" name="Text 33"/>
          <p:cNvSpPr/>
          <p:nvPr/>
        </p:nvSpPr>
        <p:spPr>
          <a:xfrm>
            <a:off x="1067770" y="20645545"/>
            <a:ext cx="1596875" cy="187868"/>
          </a:xfrm>
          <a:prstGeom prst="rect">
            <a:avLst/>
          </a:prstGeom>
          <a:noFill/>
          <a:ln/>
        </p:spPr>
        <p:txBody>
          <a:bodyPr wrap="square" lIns="0" tIns="0" rIns="0" bIns="0" rtlCol="0" anchor="ctr"/>
          <a:lstStyle/>
          <a:p>
            <a:pPr marL="0" indent="0" algn="l">
              <a:buNone/>
            </a:pPr>
            <a:r>
              <a:rPr lang="en-US" sz="1400" b="1" dirty="0">
                <a:solidFill>
                  <a:srgbClr val="0F2847"/>
                </a:solidFill>
                <a:latin typeface="Calibri" pitchFamily="34" charset="0"/>
                <a:ea typeface="Calibri" pitchFamily="34" charset="-122"/>
                <a:cs typeface="Calibri" pitchFamily="34" charset="-120"/>
              </a:rPr>
              <a:t>sin / cos seasonal</a:t>
            </a:r>
            <a:endParaRPr lang="en-US" sz="1400" dirty="0"/>
          </a:p>
        </p:txBody>
      </p:sp>
      <p:sp>
        <p:nvSpPr>
          <p:cNvPr id="41" name="Text 34"/>
          <p:cNvSpPr/>
          <p:nvPr/>
        </p:nvSpPr>
        <p:spPr>
          <a:xfrm>
            <a:off x="1067770" y="20852200"/>
            <a:ext cx="1596875" cy="150294"/>
          </a:xfrm>
          <a:prstGeom prst="rect">
            <a:avLst/>
          </a:prstGeom>
          <a:noFill/>
          <a:ln/>
        </p:spPr>
        <p:txBody>
          <a:bodyPr wrap="square" lIns="0" tIns="0" rIns="0" bIns="0" rtlCol="0" anchor="ctr"/>
          <a:lstStyle/>
          <a:p>
            <a:pPr marL="0" indent="0" algn="l">
              <a:buNone/>
            </a:pPr>
            <a:r>
              <a:rPr lang="en-US" sz="1000" i="1" dirty="0">
                <a:solidFill>
                  <a:srgbClr val="1B6E8C"/>
                </a:solidFill>
                <a:latin typeface="Calibri" pitchFamily="34" charset="0"/>
                <a:ea typeface="Calibri" pitchFamily="34" charset="-122"/>
                <a:cs typeface="Calibri" pitchFamily="34" charset="-120"/>
              </a:rPr>
              <a:t>12-month period</a:t>
            </a:r>
            <a:endParaRPr lang="en-US" sz="1000" dirty="0"/>
          </a:p>
        </p:txBody>
      </p:sp>
      <p:sp>
        <p:nvSpPr>
          <p:cNvPr id="42" name="Text 35"/>
          <p:cNvSpPr/>
          <p:nvPr/>
        </p:nvSpPr>
        <p:spPr>
          <a:xfrm>
            <a:off x="9709681" y="17427466"/>
            <a:ext cx="1315073" cy="150294"/>
          </a:xfrm>
          <a:prstGeom prst="rect">
            <a:avLst/>
          </a:prstGeom>
          <a:noFill/>
          <a:ln/>
        </p:spPr>
        <p:txBody>
          <a:bodyPr wrap="square" lIns="0" tIns="0" rIns="0" bIns="0" rtlCol="0" anchor="ctr"/>
          <a:lstStyle/>
          <a:p>
            <a:pPr marL="0" indent="0" algn="l">
              <a:buNone/>
            </a:pPr>
            <a:r>
              <a:rPr lang="en-US" sz="1300" b="1" dirty="0">
                <a:solidFill>
                  <a:srgbClr val="0F2847"/>
                </a:solidFill>
                <a:latin typeface="Calibri" pitchFamily="34" charset="0"/>
                <a:ea typeface="Calibri" pitchFamily="34" charset="-122"/>
                <a:cs typeface="Calibri" pitchFamily="34" charset="-120"/>
              </a:rPr>
              <a:t>Target obs.</a:t>
            </a:r>
            <a:endParaRPr lang="en-US" sz="1300" dirty="0"/>
          </a:p>
        </p:txBody>
      </p:sp>
      <p:sp>
        <p:nvSpPr>
          <p:cNvPr id="43" name="Text 36"/>
          <p:cNvSpPr/>
          <p:nvPr/>
        </p:nvSpPr>
        <p:spPr>
          <a:xfrm>
            <a:off x="9709681" y="17587154"/>
            <a:ext cx="1315073" cy="131507"/>
          </a:xfrm>
          <a:prstGeom prst="rect">
            <a:avLst/>
          </a:prstGeom>
          <a:noFill/>
          <a:ln/>
        </p:spPr>
        <p:txBody>
          <a:bodyPr wrap="square" lIns="0" tIns="0" rIns="0" bIns="0" rtlCol="0" anchor="ctr"/>
          <a:lstStyle/>
          <a:p>
            <a:pPr marL="0" indent="0" algn="l">
              <a:buNone/>
            </a:pPr>
            <a:r>
              <a:rPr lang="en-US" sz="900" i="1" dirty="0">
                <a:solidFill>
                  <a:srgbClr val="1B6E8C"/>
                </a:solidFill>
                <a:latin typeface="Calibri" pitchFamily="34" charset="0"/>
                <a:ea typeface="Calibri" pitchFamily="34" charset="-122"/>
                <a:cs typeface="Calibri" pitchFamily="34" charset="-120"/>
              </a:rPr>
              <a:t>well measurements</a:t>
            </a:r>
            <a:endParaRPr lang="en-US" sz="900" dirty="0"/>
          </a:p>
        </p:txBody>
      </p:sp>
      <p:sp>
        <p:nvSpPr>
          <p:cNvPr id="44" name="Text 37"/>
          <p:cNvSpPr/>
          <p:nvPr/>
        </p:nvSpPr>
        <p:spPr>
          <a:xfrm>
            <a:off x="9709681" y="17944102"/>
            <a:ext cx="1315073" cy="150294"/>
          </a:xfrm>
          <a:prstGeom prst="rect">
            <a:avLst/>
          </a:prstGeom>
          <a:noFill/>
          <a:ln/>
        </p:spPr>
        <p:txBody>
          <a:bodyPr wrap="square" lIns="0" tIns="0" rIns="0" bIns="0" rtlCol="0" anchor="ctr"/>
          <a:lstStyle/>
          <a:p>
            <a:pPr marL="0" indent="0" algn="l">
              <a:buNone/>
            </a:pPr>
            <a:r>
              <a:rPr lang="en-US" sz="1300" b="1" dirty="0">
                <a:solidFill>
                  <a:srgbClr val="0F2847"/>
                </a:solidFill>
                <a:latin typeface="Calibri" pitchFamily="34" charset="0"/>
                <a:ea typeface="Calibri" pitchFamily="34" charset="-122"/>
                <a:cs typeface="Calibri" pitchFamily="34" charset="-120"/>
              </a:rPr>
              <a:t>Gap</a:t>
            </a:r>
            <a:endParaRPr lang="en-US" sz="1300" dirty="0"/>
          </a:p>
        </p:txBody>
      </p:sp>
      <p:sp>
        <p:nvSpPr>
          <p:cNvPr id="45" name="Text 38"/>
          <p:cNvSpPr/>
          <p:nvPr/>
        </p:nvSpPr>
        <p:spPr>
          <a:xfrm>
            <a:off x="9709681" y="18103790"/>
            <a:ext cx="1315073" cy="131507"/>
          </a:xfrm>
          <a:prstGeom prst="rect">
            <a:avLst/>
          </a:prstGeom>
          <a:noFill/>
          <a:ln/>
        </p:spPr>
        <p:txBody>
          <a:bodyPr wrap="square" lIns="0" tIns="0" rIns="0" bIns="0" rtlCol="0" anchor="ctr"/>
          <a:lstStyle/>
          <a:p>
            <a:pPr marL="0" indent="0" algn="l">
              <a:buNone/>
            </a:pPr>
            <a:r>
              <a:rPr lang="en-US" sz="900" i="1" dirty="0">
                <a:solidFill>
                  <a:srgbClr val="1B6E8C"/>
                </a:solidFill>
                <a:latin typeface="Calibri" pitchFamily="34" charset="0"/>
                <a:ea typeface="Calibri" pitchFamily="34" charset="-122"/>
                <a:cs typeface="Calibri" pitchFamily="34" charset="-120"/>
              </a:rPr>
              <a:t>to impute</a:t>
            </a:r>
            <a:endParaRPr lang="en-US" sz="900" dirty="0"/>
          </a:p>
        </p:txBody>
      </p:sp>
      <p:sp>
        <p:nvSpPr>
          <p:cNvPr id="46" name="Text 39"/>
          <p:cNvSpPr/>
          <p:nvPr/>
        </p:nvSpPr>
        <p:spPr>
          <a:xfrm>
            <a:off x="9709681" y="18460738"/>
            <a:ext cx="1315073" cy="150294"/>
          </a:xfrm>
          <a:prstGeom prst="rect">
            <a:avLst/>
          </a:prstGeom>
          <a:noFill/>
          <a:ln/>
        </p:spPr>
        <p:txBody>
          <a:bodyPr wrap="square" lIns="0" tIns="0" rIns="0" bIns="0" rtlCol="0" anchor="ctr"/>
          <a:lstStyle/>
          <a:p>
            <a:pPr marL="0" indent="0" algn="l">
              <a:buNone/>
            </a:pPr>
            <a:r>
              <a:rPr lang="en-US" sz="1300" b="1" dirty="0">
                <a:solidFill>
                  <a:srgbClr val="0F2847"/>
                </a:solidFill>
                <a:latin typeface="Calibri" pitchFamily="34" charset="0"/>
                <a:ea typeface="Calibri" pitchFamily="34" charset="-122"/>
                <a:cs typeface="Calibri" pitchFamily="34" charset="-120"/>
              </a:rPr>
              <a:t>Donor wells</a:t>
            </a:r>
            <a:endParaRPr lang="en-US" sz="1300" dirty="0"/>
          </a:p>
        </p:txBody>
      </p:sp>
      <p:sp>
        <p:nvSpPr>
          <p:cNvPr id="47" name="Text 40"/>
          <p:cNvSpPr/>
          <p:nvPr/>
        </p:nvSpPr>
        <p:spPr>
          <a:xfrm>
            <a:off x="9709681" y="18620426"/>
            <a:ext cx="1315073" cy="131507"/>
          </a:xfrm>
          <a:prstGeom prst="rect">
            <a:avLst/>
          </a:prstGeom>
          <a:noFill/>
          <a:ln/>
        </p:spPr>
        <p:txBody>
          <a:bodyPr wrap="square" lIns="0" tIns="0" rIns="0" bIns="0" rtlCol="0" anchor="ctr"/>
          <a:lstStyle/>
          <a:p>
            <a:pPr marL="0" indent="0" algn="l">
              <a:buNone/>
            </a:pPr>
            <a:r>
              <a:rPr lang="en-US" sz="900" i="1" dirty="0">
                <a:solidFill>
                  <a:srgbClr val="1B6E8C"/>
                </a:solidFill>
                <a:latin typeface="Calibri" pitchFamily="34" charset="0"/>
                <a:ea typeface="Calibri" pitchFamily="34" charset="-122"/>
                <a:cs typeface="Calibri" pitchFamily="34" charset="-120"/>
              </a:rPr>
              <a:t>spatial context</a:t>
            </a:r>
            <a:endParaRPr lang="en-US" sz="900" dirty="0"/>
          </a:p>
        </p:txBody>
      </p:sp>
      <p:sp>
        <p:nvSpPr>
          <p:cNvPr id="48" name="Text 41"/>
          <p:cNvSpPr/>
          <p:nvPr/>
        </p:nvSpPr>
        <p:spPr>
          <a:xfrm>
            <a:off x="9709681" y="18977374"/>
            <a:ext cx="1315073" cy="150294"/>
          </a:xfrm>
          <a:prstGeom prst="rect">
            <a:avLst/>
          </a:prstGeom>
          <a:noFill/>
          <a:ln/>
        </p:spPr>
        <p:txBody>
          <a:bodyPr wrap="square" lIns="0" tIns="0" rIns="0" bIns="0" rtlCol="0" anchor="ctr"/>
          <a:lstStyle/>
          <a:p>
            <a:pPr marL="0" indent="0" algn="l">
              <a:buNone/>
            </a:pPr>
            <a:r>
              <a:rPr lang="en-US" sz="1300" b="1" dirty="0">
                <a:solidFill>
                  <a:srgbClr val="0F2847"/>
                </a:solidFill>
                <a:latin typeface="Calibri" pitchFamily="34" charset="0"/>
                <a:ea typeface="Calibri" pitchFamily="34" charset="-122"/>
                <a:cs typeface="Calibri" pitchFamily="34" charset="-120"/>
              </a:rPr>
              <a:t>GLDAS aux.</a:t>
            </a:r>
            <a:endParaRPr lang="en-US" sz="1300" dirty="0"/>
          </a:p>
        </p:txBody>
      </p:sp>
      <p:sp>
        <p:nvSpPr>
          <p:cNvPr id="49" name="Text 42"/>
          <p:cNvSpPr/>
          <p:nvPr/>
        </p:nvSpPr>
        <p:spPr>
          <a:xfrm>
            <a:off x="9709681" y="19137062"/>
            <a:ext cx="1315073" cy="131507"/>
          </a:xfrm>
          <a:prstGeom prst="rect">
            <a:avLst/>
          </a:prstGeom>
          <a:noFill/>
          <a:ln/>
        </p:spPr>
        <p:txBody>
          <a:bodyPr wrap="square" lIns="0" tIns="0" rIns="0" bIns="0" rtlCol="0" anchor="ctr"/>
          <a:lstStyle/>
          <a:p>
            <a:pPr marL="0" indent="0" algn="l">
              <a:buNone/>
            </a:pPr>
            <a:r>
              <a:rPr lang="en-US" sz="900" i="1" dirty="0">
                <a:solidFill>
                  <a:srgbClr val="1B6E8C"/>
                </a:solidFill>
                <a:latin typeface="Calibri" pitchFamily="34" charset="0"/>
                <a:ea typeface="Calibri" pitchFamily="34" charset="-122"/>
                <a:cs typeface="Calibri" pitchFamily="34" charset="-120"/>
              </a:rPr>
              <a:t>climate anchor</a:t>
            </a:r>
            <a:endParaRPr lang="en-US" sz="900" dirty="0"/>
          </a:p>
        </p:txBody>
      </p:sp>
      <p:sp>
        <p:nvSpPr>
          <p:cNvPr id="50" name="Text 43"/>
          <p:cNvSpPr/>
          <p:nvPr/>
        </p:nvSpPr>
        <p:spPr>
          <a:xfrm>
            <a:off x="9709681" y="19494010"/>
            <a:ext cx="1315073" cy="150294"/>
          </a:xfrm>
          <a:prstGeom prst="rect">
            <a:avLst/>
          </a:prstGeom>
          <a:noFill/>
          <a:ln/>
        </p:spPr>
        <p:txBody>
          <a:bodyPr wrap="square" lIns="0" tIns="0" rIns="0" bIns="0" rtlCol="0" anchor="ctr"/>
          <a:lstStyle/>
          <a:p>
            <a:pPr marL="0" indent="0" algn="l">
              <a:buNone/>
            </a:pPr>
            <a:r>
              <a:rPr lang="en-US" sz="1300" b="1" dirty="0">
                <a:solidFill>
                  <a:srgbClr val="0F2847"/>
                </a:solidFill>
                <a:latin typeface="Calibri" pitchFamily="34" charset="0"/>
                <a:ea typeface="Calibri" pitchFamily="34" charset="-122"/>
                <a:cs typeface="Calibri" pitchFamily="34" charset="-120"/>
              </a:rPr>
              <a:t>Seasonal</a:t>
            </a:r>
            <a:endParaRPr lang="en-US" sz="1300" dirty="0"/>
          </a:p>
        </p:txBody>
      </p:sp>
      <p:sp>
        <p:nvSpPr>
          <p:cNvPr id="51" name="Text 44"/>
          <p:cNvSpPr/>
          <p:nvPr/>
        </p:nvSpPr>
        <p:spPr>
          <a:xfrm>
            <a:off x="9709681" y="19653698"/>
            <a:ext cx="1315073" cy="131507"/>
          </a:xfrm>
          <a:prstGeom prst="rect">
            <a:avLst/>
          </a:prstGeom>
          <a:noFill/>
          <a:ln/>
        </p:spPr>
        <p:txBody>
          <a:bodyPr wrap="square" lIns="0" tIns="0" rIns="0" bIns="0" rtlCol="0" anchor="ctr"/>
          <a:lstStyle/>
          <a:p>
            <a:pPr marL="0" indent="0" algn="l">
              <a:buNone/>
            </a:pPr>
            <a:r>
              <a:rPr lang="en-US" sz="900" i="1" dirty="0">
                <a:solidFill>
                  <a:srgbClr val="1B6E8C"/>
                </a:solidFill>
                <a:latin typeface="Calibri" pitchFamily="34" charset="0"/>
                <a:ea typeface="Calibri" pitchFamily="34" charset="-122"/>
                <a:cs typeface="Calibri" pitchFamily="34" charset="-120"/>
              </a:rPr>
              <a:t>sin / cos cycle</a:t>
            </a:r>
            <a:endParaRPr lang="en-US" sz="900" dirty="0"/>
          </a:p>
        </p:txBody>
      </p:sp>
      <p:sp>
        <p:nvSpPr>
          <p:cNvPr id="52" name="Shape 45"/>
          <p:cNvSpPr/>
          <p:nvPr/>
        </p:nvSpPr>
        <p:spPr>
          <a:xfrm>
            <a:off x="457200" y="22340087"/>
            <a:ext cx="868680" cy="868680"/>
          </a:xfrm>
          <a:prstGeom prst="ellipse">
            <a:avLst/>
          </a:prstGeom>
          <a:solidFill>
            <a:srgbClr val="1B6E8C"/>
          </a:solidFill>
          <a:ln w="12700">
            <a:solidFill>
              <a:srgbClr val="1B6E8C"/>
            </a:solidFill>
            <a:prstDash val="solid"/>
          </a:ln>
        </p:spPr>
        <p:txBody>
          <a:bodyPr/>
          <a:lstStyle/>
          <a:p>
            <a:endParaRPr lang="en-US"/>
          </a:p>
        </p:txBody>
      </p:sp>
      <p:sp>
        <p:nvSpPr>
          <p:cNvPr id="53" name="Text 46"/>
          <p:cNvSpPr/>
          <p:nvPr/>
        </p:nvSpPr>
        <p:spPr>
          <a:xfrm>
            <a:off x="457200" y="22340087"/>
            <a:ext cx="868680" cy="86868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3</a:t>
            </a:r>
            <a:endParaRPr lang="en-US" sz="4000" dirty="0"/>
          </a:p>
        </p:txBody>
      </p:sp>
      <p:sp>
        <p:nvSpPr>
          <p:cNvPr id="54" name="Text 47"/>
          <p:cNvSpPr/>
          <p:nvPr/>
        </p:nvSpPr>
        <p:spPr>
          <a:xfrm>
            <a:off x="1463040" y="22340087"/>
            <a:ext cx="9326880" cy="868680"/>
          </a:xfrm>
          <a:prstGeom prst="rect">
            <a:avLst/>
          </a:prstGeom>
          <a:noFill/>
          <a:ln/>
        </p:spPr>
        <p:txBody>
          <a:bodyPr wrap="square" lIns="0" tIns="0" rIns="0" bIns="0" rtlCol="0" anchor="ctr"/>
          <a:lstStyle/>
          <a:p>
            <a:pPr marL="0" indent="0" algn="l">
              <a:buNone/>
            </a:pPr>
            <a:r>
              <a:rPr lang="en-US" sz="3400" b="1" dirty="0">
                <a:solidFill>
                  <a:srgbClr val="0F2847"/>
                </a:solidFill>
                <a:latin typeface="Calibri" pitchFamily="34" charset="0"/>
                <a:ea typeface="Calibri" pitchFamily="34" charset="-122"/>
                <a:cs typeface="Calibri" pitchFamily="34" charset="-120"/>
              </a:rPr>
              <a:t>Liquid Neural Network</a:t>
            </a:r>
            <a:endParaRPr lang="en-US" sz="3400" dirty="0"/>
          </a:p>
        </p:txBody>
      </p:sp>
      <p:sp>
        <p:nvSpPr>
          <p:cNvPr id="55" name="Shape 48"/>
          <p:cNvSpPr/>
          <p:nvPr/>
        </p:nvSpPr>
        <p:spPr>
          <a:xfrm>
            <a:off x="1463040" y="23144759"/>
            <a:ext cx="9326880" cy="54864"/>
          </a:xfrm>
          <a:prstGeom prst="rect">
            <a:avLst/>
          </a:prstGeom>
          <a:solidFill>
            <a:srgbClr val="1B6E8C"/>
          </a:solidFill>
          <a:ln w="12700">
            <a:solidFill>
              <a:srgbClr val="1B6E8C"/>
            </a:solidFill>
            <a:prstDash val="solid"/>
          </a:ln>
        </p:spPr>
        <p:txBody>
          <a:bodyPr/>
          <a:lstStyle/>
          <a:p>
            <a:endParaRPr lang="en-US"/>
          </a:p>
        </p:txBody>
      </p:sp>
      <p:sp>
        <p:nvSpPr>
          <p:cNvPr id="56" name="Text 49"/>
          <p:cNvSpPr/>
          <p:nvPr/>
        </p:nvSpPr>
        <p:spPr>
          <a:xfrm>
            <a:off x="457200" y="23391647"/>
            <a:ext cx="10332720" cy="1691640"/>
          </a:xfrm>
          <a:prstGeom prst="rect">
            <a:avLst/>
          </a:prstGeom>
          <a:noFill/>
          <a:ln/>
        </p:spPr>
        <p:txBody>
          <a:bodyPr wrap="square" lIns="635" tIns="635" rIns="635" bIns="635" rtlCol="0" anchor="t"/>
          <a:lstStyle/>
          <a:p>
            <a:pPr marL="0" indent="0" algn="l">
              <a:spcAft>
                <a:spcPts val="400"/>
              </a:spcAft>
              <a:buNone/>
            </a:pPr>
            <a:r>
              <a:rPr lang="en-US" sz="2100" dirty="0">
                <a:solidFill>
                  <a:srgbClr val="0F2847"/>
                </a:solidFill>
                <a:latin typeface="Calibri" pitchFamily="34" charset="0"/>
                <a:ea typeface="Calibri" pitchFamily="34" charset="-122"/>
                <a:cs typeface="Calibri" pitchFamily="34" charset="-120"/>
              </a:rPr>
              <a:t>A Closed-form Continuous-time (CFC) Liquid Neural Network (Hasani et al., 2022) models the hidden state as a continuous flow, solved analytically at each step — no numerical ODE solver required. The leak rate λ sets memory horizon. Inputs concatenate MC output, GLDAS soil moisture, and seasonal encoding. The ridge readout is trained ONLY on observed values — MC drives the reservoir through gap periods.</a:t>
            </a:r>
            <a:endParaRPr lang="en-US" sz="2100" dirty="0"/>
          </a:p>
        </p:txBody>
      </p:sp>
      <p:pic>
        <p:nvPicPr>
          <p:cNvPr id="57" name="Image 5" descr="/home/claude/poster/lnn_dynamics.png"/>
          <p:cNvPicPr>
            <a:picLocks noChangeAspect="1"/>
          </p:cNvPicPr>
          <p:nvPr/>
        </p:nvPicPr>
        <p:blipFill>
          <a:blip r:embed="rId8"/>
          <a:stretch>
            <a:fillRect/>
          </a:stretch>
        </p:blipFill>
        <p:spPr>
          <a:xfrm>
            <a:off x="457200" y="25174727"/>
            <a:ext cx="10332720" cy="6199632"/>
          </a:xfrm>
          <a:prstGeom prst="rect">
            <a:avLst/>
          </a:prstGeom>
        </p:spPr>
      </p:pic>
      <p:sp>
        <p:nvSpPr>
          <p:cNvPr id="58" name="Text 50"/>
          <p:cNvSpPr/>
          <p:nvPr/>
        </p:nvSpPr>
        <p:spPr>
          <a:xfrm>
            <a:off x="818845" y="26337158"/>
            <a:ext cx="1343254" cy="206654"/>
          </a:xfrm>
          <a:prstGeom prst="rect">
            <a:avLst/>
          </a:prstGeom>
          <a:noFill/>
          <a:ln/>
        </p:spPr>
        <p:txBody>
          <a:bodyPr wrap="square" lIns="0" tIns="0" rIns="0" bIns="0" rtlCol="0" anchor="ctr"/>
          <a:lstStyle/>
          <a:p>
            <a:pPr marL="0" indent="0" algn="ctr">
              <a:buNone/>
            </a:pPr>
            <a:r>
              <a:rPr lang="en-US" sz="1400" b="1" dirty="0">
                <a:solidFill>
                  <a:srgbClr val="0F2847"/>
                </a:solidFill>
                <a:latin typeface="Calibri" pitchFamily="34" charset="0"/>
                <a:ea typeface="Calibri" pitchFamily="34" charset="-122"/>
                <a:cs typeface="Calibri" pitchFamily="34" charset="-120"/>
              </a:rPr>
              <a:t>Input vector u(t)</a:t>
            </a:r>
            <a:endParaRPr lang="en-US" sz="1400" dirty="0"/>
          </a:p>
        </p:txBody>
      </p:sp>
      <p:sp>
        <p:nvSpPr>
          <p:cNvPr id="59" name="Text 51"/>
          <p:cNvSpPr/>
          <p:nvPr/>
        </p:nvSpPr>
        <p:spPr>
          <a:xfrm>
            <a:off x="942838" y="26879626"/>
            <a:ext cx="1136599" cy="196322"/>
          </a:xfrm>
          <a:prstGeom prst="rect">
            <a:avLst/>
          </a:prstGeom>
          <a:noFill/>
          <a:ln/>
        </p:spPr>
        <p:txBody>
          <a:bodyPr wrap="square" lIns="0" tIns="0" rIns="0" bIns="0" rtlCol="0" anchor="ctr"/>
          <a:lstStyle/>
          <a:p>
            <a:pPr marL="0" indent="0" algn="l">
              <a:buNone/>
            </a:pPr>
            <a:r>
              <a:rPr lang="en-US" sz="1300" b="1" dirty="0">
                <a:solidFill>
                  <a:srgbClr val="0F2847"/>
                </a:solidFill>
                <a:latin typeface="Calibri" pitchFamily="34" charset="0"/>
                <a:ea typeface="Calibri" pitchFamily="34" charset="-122"/>
                <a:cs typeface="Calibri" pitchFamily="34" charset="-120"/>
              </a:rPr>
              <a:t>MC output</a:t>
            </a:r>
            <a:endParaRPr lang="en-US" sz="1300" dirty="0"/>
          </a:p>
        </p:txBody>
      </p:sp>
      <p:sp>
        <p:nvSpPr>
          <p:cNvPr id="60" name="Text 52"/>
          <p:cNvSpPr/>
          <p:nvPr/>
        </p:nvSpPr>
        <p:spPr>
          <a:xfrm>
            <a:off x="942838" y="27106946"/>
            <a:ext cx="1136599" cy="154991"/>
          </a:xfrm>
          <a:prstGeom prst="rect">
            <a:avLst/>
          </a:prstGeom>
          <a:noFill/>
          <a:ln/>
        </p:spPr>
        <p:txBody>
          <a:bodyPr wrap="square" lIns="0" tIns="0" rIns="0" bIns="0" rtlCol="0" anchor="ctr"/>
          <a:lstStyle/>
          <a:p>
            <a:pPr marL="0" indent="0" algn="l">
              <a:buNone/>
            </a:pPr>
            <a:r>
              <a:rPr lang="en-US" sz="1000" i="1" dirty="0">
                <a:solidFill>
                  <a:srgbClr val="1B6E8C"/>
                </a:solidFill>
                <a:latin typeface="Calibri" pitchFamily="34" charset="0"/>
                <a:ea typeface="Calibri" pitchFamily="34" charset="-122"/>
                <a:cs typeface="Calibri" pitchFamily="34" charset="-120"/>
              </a:rPr>
              <a:t>spatial context</a:t>
            </a:r>
            <a:endParaRPr lang="en-US" sz="1000" dirty="0"/>
          </a:p>
        </p:txBody>
      </p:sp>
      <p:sp>
        <p:nvSpPr>
          <p:cNvPr id="61" name="Text 53"/>
          <p:cNvSpPr/>
          <p:nvPr/>
        </p:nvSpPr>
        <p:spPr>
          <a:xfrm>
            <a:off x="942838" y="27706244"/>
            <a:ext cx="1136599" cy="196322"/>
          </a:xfrm>
          <a:prstGeom prst="rect">
            <a:avLst/>
          </a:prstGeom>
          <a:noFill/>
          <a:ln/>
        </p:spPr>
        <p:txBody>
          <a:bodyPr wrap="square" lIns="0" tIns="0" rIns="0" bIns="0" rtlCol="0" anchor="ctr"/>
          <a:lstStyle/>
          <a:p>
            <a:pPr marL="0" indent="0" algn="l">
              <a:buNone/>
            </a:pPr>
            <a:r>
              <a:rPr lang="en-US" sz="1300" b="1" dirty="0">
                <a:solidFill>
                  <a:srgbClr val="0F2847"/>
                </a:solidFill>
                <a:latin typeface="Calibri" pitchFamily="34" charset="0"/>
                <a:ea typeface="Calibri" pitchFamily="34" charset="-122"/>
                <a:cs typeface="Calibri" pitchFamily="34" charset="-120"/>
              </a:rPr>
              <a:t>GLDAS</a:t>
            </a:r>
            <a:endParaRPr lang="en-US" sz="1300" dirty="0"/>
          </a:p>
        </p:txBody>
      </p:sp>
      <p:sp>
        <p:nvSpPr>
          <p:cNvPr id="62" name="Text 54"/>
          <p:cNvSpPr/>
          <p:nvPr/>
        </p:nvSpPr>
        <p:spPr>
          <a:xfrm>
            <a:off x="942838" y="27933564"/>
            <a:ext cx="1136599" cy="154991"/>
          </a:xfrm>
          <a:prstGeom prst="rect">
            <a:avLst/>
          </a:prstGeom>
          <a:noFill/>
          <a:ln/>
        </p:spPr>
        <p:txBody>
          <a:bodyPr wrap="square" lIns="0" tIns="0" rIns="0" bIns="0" rtlCol="0" anchor="ctr"/>
          <a:lstStyle/>
          <a:p>
            <a:pPr marL="0" indent="0" algn="l">
              <a:buNone/>
            </a:pPr>
            <a:r>
              <a:rPr lang="en-US" sz="1000" i="1" dirty="0">
                <a:solidFill>
                  <a:srgbClr val="1B6E8C"/>
                </a:solidFill>
                <a:latin typeface="Calibri" pitchFamily="34" charset="0"/>
                <a:ea typeface="Calibri" pitchFamily="34" charset="-122"/>
                <a:cs typeface="Calibri" pitchFamily="34" charset="-120"/>
              </a:rPr>
              <a:t>soil moisture</a:t>
            </a:r>
            <a:endParaRPr lang="en-US" sz="1000" dirty="0"/>
          </a:p>
        </p:txBody>
      </p:sp>
      <p:sp>
        <p:nvSpPr>
          <p:cNvPr id="63" name="Text 55"/>
          <p:cNvSpPr/>
          <p:nvPr/>
        </p:nvSpPr>
        <p:spPr>
          <a:xfrm>
            <a:off x="942838" y="28532861"/>
            <a:ext cx="1136599" cy="196322"/>
          </a:xfrm>
          <a:prstGeom prst="rect">
            <a:avLst/>
          </a:prstGeom>
          <a:noFill/>
          <a:ln/>
        </p:spPr>
        <p:txBody>
          <a:bodyPr wrap="square" lIns="0" tIns="0" rIns="0" bIns="0" rtlCol="0" anchor="ctr"/>
          <a:lstStyle/>
          <a:p>
            <a:pPr marL="0" indent="0" algn="l">
              <a:buNone/>
            </a:pPr>
            <a:r>
              <a:rPr lang="en-US" sz="1300" b="1" dirty="0">
                <a:solidFill>
                  <a:srgbClr val="0F2847"/>
                </a:solidFill>
                <a:latin typeface="Calibri" pitchFamily="34" charset="0"/>
                <a:ea typeface="Calibri" pitchFamily="34" charset="-122"/>
                <a:cs typeface="Calibri" pitchFamily="34" charset="-120"/>
              </a:rPr>
              <a:t>sin / cos</a:t>
            </a:r>
            <a:endParaRPr lang="en-US" sz="1300" dirty="0"/>
          </a:p>
        </p:txBody>
      </p:sp>
      <p:sp>
        <p:nvSpPr>
          <p:cNvPr id="64" name="Text 56"/>
          <p:cNvSpPr/>
          <p:nvPr/>
        </p:nvSpPr>
        <p:spPr>
          <a:xfrm>
            <a:off x="942838" y="28760181"/>
            <a:ext cx="1136599" cy="154991"/>
          </a:xfrm>
          <a:prstGeom prst="rect">
            <a:avLst/>
          </a:prstGeom>
          <a:noFill/>
          <a:ln/>
        </p:spPr>
        <p:txBody>
          <a:bodyPr wrap="square" lIns="0" tIns="0" rIns="0" bIns="0" rtlCol="0" anchor="ctr"/>
          <a:lstStyle/>
          <a:p>
            <a:pPr marL="0" indent="0" algn="l">
              <a:buNone/>
            </a:pPr>
            <a:r>
              <a:rPr lang="en-US" sz="1000" i="1" dirty="0">
                <a:solidFill>
                  <a:srgbClr val="1B6E8C"/>
                </a:solidFill>
                <a:latin typeface="Calibri" pitchFamily="34" charset="0"/>
                <a:ea typeface="Calibri" pitchFamily="34" charset="-122"/>
                <a:cs typeface="Calibri" pitchFamily="34" charset="-120"/>
              </a:rPr>
              <a:t>seasonality</a:t>
            </a:r>
            <a:endParaRPr lang="en-US" sz="1000" dirty="0"/>
          </a:p>
        </p:txBody>
      </p:sp>
      <p:sp>
        <p:nvSpPr>
          <p:cNvPr id="65" name="Text 57"/>
          <p:cNvSpPr/>
          <p:nvPr/>
        </p:nvSpPr>
        <p:spPr>
          <a:xfrm>
            <a:off x="3298698" y="26238998"/>
            <a:ext cx="3099816" cy="206654"/>
          </a:xfrm>
          <a:prstGeom prst="rect">
            <a:avLst/>
          </a:prstGeom>
          <a:noFill/>
          <a:ln/>
        </p:spPr>
        <p:txBody>
          <a:bodyPr wrap="square" lIns="0" tIns="0" rIns="0" bIns="0" rtlCol="0" anchor="ctr"/>
          <a:lstStyle/>
          <a:p>
            <a:pPr marL="0" indent="0" algn="ctr">
              <a:buNone/>
            </a:pPr>
            <a:r>
              <a:rPr lang="en-US" sz="1500" b="1" dirty="0">
                <a:solidFill>
                  <a:srgbClr val="0F2847"/>
                </a:solidFill>
                <a:latin typeface="Calibri" pitchFamily="34" charset="0"/>
                <a:ea typeface="Calibri" pitchFamily="34" charset="-122"/>
                <a:cs typeface="Calibri" pitchFamily="34" charset="-120"/>
              </a:rPr>
              <a:t>Reservoir state x(t)</a:t>
            </a:r>
            <a:endParaRPr lang="en-US" sz="1500" dirty="0"/>
          </a:p>
        </p:txBody>
      </p:sp>
      <p:sp>
        <p:nvSpPr>
          <p:cNvPr id="66" name="Text 58"/>
          <p:cNvSpPr/>
          <p:nvPr/>
        </p:nvSpPr>
        <p:spPr>
          <a:xfrm>
            <a:off x="3608680" y="29488638"/>
            <a:ext cx="2479853" cy="30998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closed-form continuous-time state</a:t>
            </a:r>
            <a:endParaRPr lang="en-US" sz="1100" dirty="0"/>
          </a:p>
        </p:txBody>
      </p:sp>
      <p:sp>
        <p:nvSpPr>
          <p:cNvPr id="67" name="Text 59"/>
          <p:cNvSpPr/>
          <p:nvPr/>
        </p:nvSpPr>
        <p:spPr>
          <a:xfrm>
            <a:off x="7948422" y="26104672"/>
            <a:ext cx="2583180" cy="196322"/>
          </a:xfrm>
          <a:prstGeom prst="rect">
            <a:avLst/>
          </a:prstGeom>
          <a:noFill/>
          <a:ln/>
        </p:spPr>
        <p:txBody>
          <a:bodyPr wrap="square" lIns="0" tIns="0" rIns="0" bIns="0" rtlCol="0" anchor="ctr"/>
          <a:lstStyle/>
          <a:p>
            <a:pPr marL="0" indent="0" algn="ctr">
              <a:buNone/>
            </a:pPr>
            <a:r>
              <a:rPr lang="en-US" sz="1300" b="1" dirty="0">
                <a:solidFill>
                  <a:srgbClr val="0F2847"/>
                </a:solidFill>
                <a:latin typeface="Calibri" pitchFamily="34" charset="0"/>
                <a:ea typeface="Calibri" pitchFamily="34" charset="-122"/>
                <a:cs typeface="Calibri" pitchFamily="34" charset="-120"/>
              </a:rPr>
              <a:t>Model output — continuous</a:t>
            </a:r>
            <a:endParaRPr lang="en-US" sz="1300" dirty="0"/>
          </a:p>
        </p:txBody>
      </p:sp>
      <p:sp>
        <p:nvSpPr>
          <p:cNvPr id="68" name="Text 60"/>
          <p:cNvSpPr/>
          <p:nvPr/>
        </p:nvSpPr>
        <p:spPr>
          <a:xfrm>
            <a:off x="7948422" y="28295209"/>
            <a:ext cx="2583180" cy="185989"/>
          </a:xfrm>
          <a:prstGeom prst="rect">
            <a:avLst/>
          </a:prstGeom>
          <a:noFill/>
          <a:ln/>
        </p:spPr>
        <p:txBody>
          <a:bodyPr wrap="square" lIns="0" tIns="0" rIns="0" bIns="0" rtlCol="0" anchor="ctr"/>
          <a:lstStyle/>
          <a:p>
            <a:pPr marL="0" indent="0" algn="ctr">
              <a:buNone/>
            </a:pPr>
            <a:r>
              <a:rPr lang="en-US" sz="1300" b="1" dirty="0">
                <a:solidFill>
                  <a:srgbClr val="0F2847"/>
                </a:solidFill>
                <a:latin typeface="Calibri" pitchFamily="34" charset="0"/>
                <a:ea typeface="Calibri" pitchFamily="34" charset="-122"/>
                <a:cs typeface="Calibri" pitchFamily="34" charset="-120"/>
              </a:rPr>
              <a:t>Ridge readout</a:t>
            </a:r>
            <a:endParaRPr lang="en-US" sz="1300" dirty="0"/>
          </a:p>
        </p:txBody>
      </p:sp>
      <p:sp>
        <p:nvSpPr>
          <p:cNvPr id="69" name="Text 61"/>
          <p:cNvSpPr/>
          <p:nvPr/>
        </p:nvSpPr>
        <p:spPr>
          <a:xfrm>
            <a:off x="7948422" y="28532861"/>
            <a:ext cx="2583180" cy="165324"/>
          </a:xfrm>
          <a:prstGeom prst="rect">
            <a:avLst/>
          </a:prstGeom>
          <a:noFill/>
          <a:ln/>
        </p:spPr>
        <p:txBody>
          <a:bodyPr wrap="square" lIns="0" tIns="0" rIns="0" bIns="0" rtlCol="0" anchor="ctr"/>
          <a:lstStyle/>
          <a:p>
            <a:pPr marL="0" indent="0" algn="ctr">
              <a:buNone/>
            </a:pPr>
            <a:r>
              <a:rPr lang="en-US" sz="1000" i="1" dirty="0">
                <a:solidFill>
                  <a:srgbClr val="0F2847"/>
                </a:solidFill>
                <a:latin typeface="Calibri" pitchFamily="34" charset="0"/>
                <a:ea typeface="Calibri" pitchFamily="34" charset="-122"/>
                <a:cs typeface="Calibri" pitchFamily="34" charset="-120"/>
              </a:rPr>
              <a:t>trained ONLY on observed values</a:t>
            </a:r>
            <a:endParaRPr lang="en-US" sz="1000" dirty="0"/>
          </a:p>
        </p:txBody>
      </p:sp>
      <p:sp>
        <p:nvSpPr>
          <p:cNvPr id="70" name="Text 62"/>
          <p:cNvSpPr/>
          <p:nvPr/>
        </p:nvSpPr>
        <p:spPr>
          <a:xfrm>
            <a:off x="870509" y="30031106"/>
            <a:ext cx="9506102" cy="309982"/>
          </a:xfrm>
          <a:prstGeom prst="rect">
            <a:avLst/>
          </a:prstGeom>
          <a:noFill/>
          <a:ln/>
        </p:spPr>
        <p:txBody>
          <a:bodyPr wrap="square" lIns="0" tIns="0" rIns="0" bIns="0" rtlCol="0" anchor="ctr"/>
          <a:lstStyle/>
          <a:p>
            <a:pPr marL="0" indent="0" algn="ctr">
              <a:buNone/>
            </a:pPr>
            <a:r>
              <a:rPr lang="en-US" sz="1400" b="1" kern="0" spc="500" dirty="0">
                <a:solidFill>
                  <a:srgbClr val="FFFFFF"/>
                </a:solidFill>
                <a:latin typeface="Calibri" pitchFamily="34" charset="0"/>
                <a:ea typeface="Calibri" pitchFamily="34" charset="-122"/>
                <a:cs typeface="Calibri" pitchFamily="34" charset="-120"/>
              </a:rPr>
              <a:t>AUTO-TUNED PER WELL</a:t>
            </a:r>
            <a:endParaRPr lang="en-US" sz="1400" dirty="0"/>
          </a:p>
        </p:txBody>
      </p:sp>
      <p:sp>
        <p:nvSpPr>
          <p:cNvPr id="71" name="Text 63"/>
          <p:cNvSpPr/>
          <p:nvPr/>
        </p:nvSpPr>
        <p:spPr>
          <a:xfrm>
            <a:off x="870509" y="30521910"/>
            <a:ext cx="1901220" cy="144658"/>
          </a:xfrm>
          <a:prstGeom prst="rect">
            <a:avLst/>
          </a:prstGeom>
          <a:noFill/>
          <a:ln/>
        </p:spPr>
        <p:txBody>
          <a:bodyPr wrap="square" lIns="0" tIns="0" rIns="0" bIns="0" rtlCol="0" anchor="ctr"/>
          <a:lstStyle/>
          <a:p>
            <a:pPr marL="0" indent="0" algn="ctr">
              <a:buNone/>
            </a:pPr>
            <a:r>
              <a:rPr lang="en-US" sz="900" b="1" kern="0" spc="300" dirty="0">
                <a:solidFill>
                  <a:srgbClr val="E8B830"/>
                </a:solidFill>
                <a:latin typeface="Calibri" pitchFamily="34" charset="0"/>
                <a:ea typeface="Calibri" pitchFamily="34" charset="-122"/>
                <a:cs typeface="Calibri" pitchFamily="34" charset="-120"/>
              </a:rPr>
              <a:t>TRIALS</a:t>
            </a:r>
            <a:endParaRPr lang="en-US" sz="900" dirty="0"/>
          </a:p>
        </p:txBody>
      </p:sp>
      <p:sp>
        <p:nvSpPr>
          <p:cNvPr id="72" name="Text 64"/>
          <p:cNvSpPr/>
          <p:nvPr/>
        </p:nvSpPr>
        <p:spPr>
          <a:xfrm>
            <a:off x="870509" y="30754396"/>
            <a:ext cx="1901220" cy="25831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73" name="Text 65"/>
          <p:cNvSpPr/>
          <p:nvPr/>
        </p:nvSpPr>
        <p:spPr>
          <a:xfrm>
            <a:off x="2771729" y="30521910"/>
            <a:ext cx="1901220" cy="144658"/>
          </a:xfrm>
          <a:prstGeom prst="rect">
            <a:avLst/>
          </a:prstGeom>
          <a:noFill/>
          <a:ln/>
        </p:spPr>
        <p:txBody>
          <a:bodyPr wrap="square" lIns="0" tIns="0" rIns="0" bIns="0" rtlCol="0" anchor="ctr"/>
          <a:lstStyle/>
          <a:p>
            <a:pPr marL="0" indent="0" algn="ctr">
              <a:buNone/>
            </a:pPr>
            <a:r>
              <a:rPr lang="en-US" sz="900" b="1" kern="0" spc="300" dirty="0">
                <a:solidFill>
                  <a:srgbClr val="E8B830"/>
                </a:solidFill>
                <a:latin typeface="Calibri" pitchFamily="34" charset="0"/>
                <a:ea typeface="Calibri" pitchFamily="34" charset="-122"/>
                <a:cs typeface="Calibri" pitchFamily="34" charset="-120"/>
              </a:rPr>
              <a:t>RESERVOIR</a:t>
            </a:r>
            <a:endParaRPr lang="en-US" sz="900" dirty="0"/>
          </a:p>
        </p:txBody>
      </p:sp>
      <p:sp>
        <p:nvSpPr>
          <p:cNvPr id="74" name="Text 66"/>
          <p:cNvSpPr/>
          <p:nvPr/>
        </p:nvSpPr>
        <p:spPr>
          <a:xfrm>
            <a:off x="2771729" y="30754396"/>
            <a:ext cx="1901220" cy="25831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10–80</a:t>
            </a:r>
            <a:endParaRPr lang="en-US" sz="1500" dirty="0"/>
          </a:p>
        </p:txBody>
      </p:sp>
      <p:sp>
        <p:nvSpPr>
          <p:cNvPr id="75" name="Text 67"/>
          <p:cNvSpPr/>
          <p:nvPr/>
        </p:nvSpPr>
        <p:spPr>
          <a:xfrm>
            <a:off x="4672950" y="30521910"/>
            <a:ext cx="1901220" cy="144658"/>
          </a:xfrm>
          <a:prstGeom prst="rect">
            <a:avLst/>
          </a:prstGeom>
          <a:noFill/>
          <a:ln/>
        </p:spPr>
        <p:txBody>
          <a:bodyPr wrap="square" lIns="0" tIns="0" rIns="0" bIns="0" rtlCol="0" anchor="ctr"/>
          <a:lstStyle/>
          <a:p>
            <a:pPr marL="0" indent="0" algn="ctr">
              <a:buNone/>
            </a:pPr>
            <a:r>
              <a:rPr lang="en-US" sz="900" b="1" kern="0" spc="300" dirty="0">
                <a:solidFill>
                  <a:srgbClr val="E8B830"/>
                </a:solidFill>
                <a:latin typeface="Calibri" pitchFamily="34" charset="0"/>
                <a:ea typeface="Calibri" pitchFamily="34" charset="-122"/>
                <a:cs typeface="Calibri" pitchFamily="34" charset="-120"/>
              </a:rPr>
              <a:t>LEAK RATE</a:t>
            </a:r>
            <a:endParaRPr lang="en-US" sz="900" dirty="0"/>
          </a:p>
        </p:txBody>
      </p:sp>
      <p:sp>
        <p:nvSpPr>
          <p:cNvPr id="76" name="Text 68"/>
          <p:cNvSpPr/>
          <p:nvPr/>
        </p:nvSpPr>
        <p:spPr>
          <a:xfrm>
            <a:off x="4672950" y="30754396"/>
            <a:ext cx="1901220" cy="25831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0.05–0.95</a:t>
            </a:r>
            <a:endParaRPr lang="en-US" sz="1500" dirty="0"/>
          </a:p>
        </p:txBody>
      </p:sp>
      <p:sp>
        <p:nvSpPr>
          <p:cNvPr id="77" name="Text 69"/>
          <p:cNvSpPr/>
          <p:nvPr/>
        </p:nvSpPr>
        <p:spPr>
          <a:xfrm>
            <a:off x="6574170" y="30521910"/>
            <a:ext cx="1901220" cy="144658"/>
          </a:xfrm>
          <a:prstGeom prst="rect">
            <a:avLst/>
          </a:prstGeom>
          <a:noFill/>
          <a:ln/>
        </p:spPr>
        <p:txBody>
          <a:bodyPr wrap="square" lIns="0" tIns="0" rIns="0" bIns="0" rtlCol="0" anchor="ctr"/>
          <a:lstStyle/>
          <a:p>
            <a:pPr marL="0" indent="0" algn="ctr">
              <a:buNone/>
            </a:pPr>
            <a:r>
              <a:rPr lang="en-US" sz="900" b="1" kern="0" spc="300" dirty="0">
                <a:solidFill>
                  <a:srgbClr val="E8B830"/>
                </a:solidFill>
                <a:latin typeface="Calibri" pitchFamily="34" charset="0"/>
                <a:ea typeface="Calibri" pitchFamily="34" charset="-122"/>
                <a:cs typeface="Calibri" pitchFamily="34" charset="-120"/>
              </a:rPr>
              <a:t>ENSEMBLE</a:t>
            </a:r>
            <a:endParaRPr lang="en-US" sz="900" dirty="0"/>
          </a:p>
        </p:txBody>
      </p:sp>
      <p:sp>
        <p:nvSpPr>
          <p:cNvPr id="78" name="Text 70"/>
          <p:cNvSpPr/>
          <p:nvPr/>
        </p:nvSpPr>
        <p:spPr>
          <a:xfrm>
            <a:off x="6574170" y="30754396"/>
            <a:ext cx="1901220" cy="25831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 seeds</a:t>
            </a:r>
            <a:endParaRPr lang="en-US" sz="1500" dirty="0"/>
          </a:p>
        </p:txBody>
      </p:sp>
      <p:sp>
        <p:nvSpPr>
          <p:cNvPr id="79" name="Text 71"/>
          <p:cNvSpPr/>
          <p:nvPr/>
        </p:nvSpPr>
        <p:spPr>
          <a:xfrm>
            <a:off x="8475391" y="30521910"/>
            <a:ext cx="1901220" cy="144658"/>
          </a:xfrm>
          <a:prstGeom prst="rect">
            <a:avLst/>
          </a:prstGeom>
          <a:noFill/>
          <a:ln/>
        </p:spPr>
        <p:txBody>
          <a:bodyPr wrap="square" lIns="0" tIns="0" rIns="0" bIns="0" rtlCol="0" anchor="ctr"/>
          <a:lstStyle/>
          <a:p>
            <a:pPr marL="0" indent="0" algn="ctr">
              <a:buNone/>
            </a:pPr>
            <a:r>
              <a:rPr lang="en-US" sz="900" b="1" kern="0" spc="300" dirty="0">
                <a:solidFill>
                  <a:srgbClr val="E8B830"/>
                </a:solidFill>
                <a:latin typeface="Calibri" pitchFamily="34" charset="0"/>
                <a:ea typeface="Calibri" pitchFamily="34" charset="-122"/>
                <a:cs typeface="Calibri" pitchFamily="34" charset="-120"/>
              </a:rPr>
              <a:t>OBJECTIVE</a:t>
            </a:r>
            <a:endParaRPr lang="en-US" sz="900" dirty="0"/>
          </a:p>
        </p:txBody>
      </p:sp>
      <p:sp>
        <p:nvSpPr>
          <p:cNvPr id="80" name="Text 72"/>
          <p:cNvSpPr/>
          <p:nvPr/>
        </p:nvSpPr>
        <p:spPr>
          <a:xfrm>
            <a:off x="8475391" y="30754396"/>
            <a:ext cx="1901220" cy="25831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KGE</a:t>
            </a:r>
            <a:endParaRPr lang="en-US" sz="1500" dirty="0"/>
          </a:p>
        </p:txBody>
      </p:sp>
      <p:sp>
        <p:nvSpPr>
          <p:cNvPr id="81" name="Text 73"/>
          <p:cNvSpPr/>
          <p:nvPr/>
        </p:nvSpPr>
        <p:spPr>
          <a:xfrm>
            <a:off x="870509" y="31054045"/>
            <a:ext cx="9506102" cy="180823"/>
          </a:xfrm>
          <a:prstGeom prst="rect">
            <a:avLst/>
          </a:prstGeom>
          <a:noFill/>
          <a:ln/>
        </p:spPr>
        <p:txBody>
          <a:bodyPr wrap="square" lIns="0" tIns="0" rIns="0" bIns="0"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each well's hyperparameters optimized independently via Optuna</a:t>
            </a:r>
            <a:endParaRPr lang="en-US" sz="1000" dirty="0"/>
          </a:p>
        </p:txBody>
      </p:sp>
      <p:sp>
        <p:nvSpPr>
          <p:cNvPr id="82" name="Shape 74"/>
          <p:cNvSpPr/>
          <p:nvPr/>
        </p:nvSpPr>
        <p:spPr>
          <a:xfrm>
            <a:off x="11155680" y="2971800"/>
            <a:ext cx="868680" cy="868680"/>
          </a:xfrm>
          <a:prstGeom prst="ellipse">
            <a:avLst/>
          </a:prstGeom>
          <a:solidFill>
            <a:srgbClr val="1B6E8C"/>
          </a:solidFill>
          <a:ln w="12700">
            <a:solidFill>
              <a:srgbClr val="1B6E8C"/>
            </a:solidFill>
            <a:prstDash val="solid"/>
          </a:ln>
        </p:spPr>
        <p:txBody>
          <a:bodyPr/>
          <a:lstStyle/>
          <a:p>
            <a:endParaRPr lang="en-US"/>
          </a:p>
        </p:txBody>
      </p:sp>
      <p:sp>
        <p:nvSpPr>
          <p:cNvPr id="83" name="Text 75"/>
          <p:cNvSpPr/>
          <p:nvPr/>
        </p:nvSpPr>
        <p:spPr>
          <a:xfrm>
            <a:off x="11155680" y="2971800"/>
            <a:ext cx="868680" cy="86868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4</a:t>
            </a:r>
            <a:endParaRPr lang="en-US" sz="4000" dirty="0"/>
          </a:p>
        </p:txBody>
      </p:sp>
      <p:sp>
        <p:nvSpPr>
          <p:cNvPr id="84" name="Text 76"/>
          <p:cNvSpPr/>
          <p:nvPr/>
        </p:nvSpPr>
        <p:spPr>
          <a:xfrm>
            <a:off x="12161520" y="2971800"/>
            <a:ext cx="9326880" cy="868680"/>
          </a:xfrm>
          <a:prstGeom prst="rect">
            <a:avLst/>
          </a:prstGeom>
          <a:noFill/>
          <a:ln/>
        </p:spPr>
        <p:txBody>
          <a:bodyPr wrap="square" lIns="0" tIns="0" rIns="0" bIns="0" rtlCol="0" anchor="ctr"/>
          <a:lstStyle/>
          <a:p>
            <a:pPr marL="0" indent="0" algn="l">
              <a:buNone/>
            </a:pPr>
            <a:r>
              <a:rPr lang="en-US" sz="3400" b="1" dirty="0">
                <a:solidFill>
                  <a:srgbClr val="0F2847"/>
                </a:solidFill>
                <a:latin typeface="Calibri" pitchFamily="34" charset="0"/>
                <a:ea typeface="Calibri" pitchFamily="34" charset="-122"/>
                <a:cs typeface="Calibri" pitchFamily="34" charset="-120"/>
              </a:rPr>
              <a:t>How GLDAS Anchors the Model</a:t>
            </a:r>
            <a:endParaRPr lang="en-US" sz="3400" dirty="0"/>
          </a:p>
        </p:txBody>
      </p:sp>
      <p:sp>
        <p:nvSpPr>
          <p:cNvPr id="85" name="Shape 77"/>
          <p:cNvSpPr/>
          <p:nvPr/>
        </p:nvSpPr>
        <p:spPr>
          <a:xfrm>
            <a:off x="12161520" y="3776472"/>
            <a:ext cx="9326880" cy="54864"/>
          </a:xfrm>
          <a:prstGeom prst="rect">
            <a:avLst/>
          </a:prstGeom>
          <a:solidFill>
            <a:srgbClr val="1B6E8C"/>
          </a:solidFill>
          <a:ln w="12700">
            <a:solidFill>
              <a:srgbClr val="1B6E8C"/>
            </a:solidFill>
            <a:prstDash val="solid"/>
          </a:ln>
        </p:spPr>
        <p:txBody>
          <a:bodyPr/>
          <a:lstStyle/>
          <a:p>
            <a:endParaRPr lang="en-US"/>
          </a:p>
        </p:txBody>
      </p:sp>
      <p:sp>
        <p:nvSpPr>
          <p:cNvPr id="86" name="Text 78"/>
          <p:cNvSpPr/>
          <p:nvPr/>
        </p:nvSpPr>
        <p:spPr>
          <a:xfrm>
            <a:off x="11155680" y="4023360"/>
            <a:ext cx="10332720" cy="1417320"/>
          </a:xfrm>
          <a:prstGeom prst="rect">
            <a:avLst/>
          </a:prstGeom>
          <a:noFill/>
          <a:ln/>
        </p:spPr>
        <p:txBody>
          <a:bodyPr wrap="square" lIns="635" tIns="635" rIns="635" bIns="635" rtlCol="0" anchor="t"/>
          <a:lstStyle/>
          <a:p>
            <a:pPr marL="0" indent="0" algn="l">
              <a:spcAft>
                <a:spcPts val="400"/>
              </a:spcAft>
              <a:buNone/>
            </a:pPr>
            <a:r>
              <a:rPr lang="en-US" sz="2100" dirty="0">
                <a:solidFill>
                  <a:srgbClr val="0F2847"/>
                </a:solidFill>
                <a:latin typeface="Calibri" pitchFamily="34" charset="0"/>
                <a:ea typeface="Calibri" pitchFamily="34" charset="-122"/>
                <a:cs typeface="Calibri" pitchFamily="34" charset="-120"/>
              </a:rPr>
              <a:t>GLDAS is NASA satellite-derived soil moisture. We treat its five channels — one raw monthly plus four rolling averages (1, 3, 5, 10 years) — as parallel timescale strata. Every stratum reports every month: the SVD taps them whenever a well falls silent.</a:t>
            </a:r>
            <a:endParaRPr lang="en-US" sz="2100" dirty="0"/>
          </a:p>
        </p:txBody>
      </p:sp>
      <p:pic>
        <p:nvPicPr>
          <p:cNvPr id="87" name="Image 6" descr="/home/claude/poster/gldas_jar.png"/>
          <p:cNvPicPr>
            <a:picLocks noChangeAspect="1"/>
          </p:cNvPicPr>
          <p:nvPr/>
        </p:nvPicPr>
        <p:blipFill>
          <a:blip r:embed="rId9"/>
          <a:stretch>
            <a:fillRect/>
          </a:stretch>
        </p:blipFill>
        <p:spPr>
          <a:xfrm>
            <a:off x="11155680" y="5532120"/>
            <a:ext cx="10332720" cy="6574193"/>
          </a:xfrm>
          <a:prstGeom prst="rect">
            <a:avLst/>
          </a:prstGeom>
        </p:spPr>
      </p:pic>
      <p:sp>
        <p:nvSpPr>
          <p:cNvPr id="88" name="Text 79"/>
          <p:cNvSpPr/>
          <p:nvPr/>
        </p:nvSpPr>
        <p:spPr>
          <a:xfrm>
            <a:off x="17355312" y="6285548"/>
            <a:ext cx="3874770" cy="266929"/>
          </a:xfrm>
          <a:prstGeom prst="rect">
            <a:avLst/>
          </a:prstGeom>
          <a:noFill/>
          <a:ln/>
        </p:spPr>
        <p:txBody>
          <a:bodyPr wrap="square" lIns="0" tIns="0" rIns="0" bIns="0" rtlCol="0" anchor="ctr"/>
          <a:lstStyle/>
          <a:p>
            <a:pPr marL="0" indent="0" algn="ctr">
              <a:buNone/>
            </a:pPr>
            <a:r>
              <a:rPr lang="en-US" sz="1400" b="1" kern="0" spc="300" dirty="0">
                <a:solidFill>
                  <a:srgbClr val="FFFFFF"/>
                </a:solidFill>
                <a:latin typeface="Calibri" pitchFamily="34" charset="0"/>
                <a:ea typeface="Calibri" pitchFamily="34" charset="-122"/>
                <a:cs typeface="Calibri" pitchFamily="34" charset="-120"/>
              </a:rPr>
              <a:t>5 AUXILIARY CHANNELS</a:t>
            </a:r>
            <a:endParaRPr lang="en-US" sz="1400" dirty="0"/>
          </a:p>
        </p:txBody>
      </p:sp>
      <p:sp>
        <p:nvSpPr>
          <p:cNvPr id="89" name="Text 80"/>
          <p:cNvSpPr/>
          <p:nvPr/>
        </p:nvSpPr>
        <p:spPr>
          <a:xfrm>
            <a:off x="17915001" y="6815099"/>
            <a:ext cx="3272028" cy="215265"/>
          </a:xfrm>
          <a:prstGeom prst="rect">
            <a:avLst/>
          </a:prstGeom>
          <a:noFill/>
          <a:ln/>
        </p:spPr>
        <p:txBody>
          <a:bodyPr wrap="square" lIns="0" tIns="0" rIns="0" bIns="0" rtlCol="0" anchor="ctr"/>
          <a:lstStyle/>
          <a:p>
            <a:pPr marL="0" indent="0" algn="l">
              <a:buNone/>
            </a:pPr>
            <a:r>
              <a:rPr lang="en-US" sz="1600" b="1" dirty="0">
                <a:solidFill>
                  <a:srgbClr val="0F2847"/>
                </a:solidFill>
                <a:latin typeface="Consolas" pitchFamily="34" charset="0"/>
                <a:ea typeface="Consolas" pitchFamily="34" charset="-122"/>
                <a:cs typeface="Consolas" pitchFamily="34" charset="-120"/>
              </a:rPr>
              <a:t>soilw</a:t>
            </a:r>
            <a:endParaRPr lang="en-US" sz="1600" dirty="0"/>
          </a:p>
        </p:txBody>
      </p:sp>
      <p:sp>
        <p:nvSpPr>
          <p:cNvPr id="90" name="Text 81"/>
          <p:cNvSpPr/>
          <p:nvPr/>
        </p:nvSpPr>
        <p:spPr>
          <a:xfrm>
            <a:off x="17915001" y="7030364"/>
            <a:ext cx="3272028" cy="172212"/>
          </a:xfrm>
          <a:prstGeom prst="rect">
            <a:avLst/>
          </a:prstGeom>
          <a:noFill/>
          <a:ln/>
        </p:spPr>
        <p:txBody>
          <a:bodyPr wrap="square" lIns="0" tIns="0" rIns="0" bIns="0" rtlCol="0" anchor="ctr"/>
          <a:lstStyle/>
          <a:p>
            <a:pPr marL="0" indent="0" algn="l">
              <a:buNone/>
            </a:pPr>
            <a:r>
              <a:rPr lang="en-US" sz="1200" i="1" dirty="0">
                <a:solidFill>
                  <a:srgbClr val="1B6E8C"/>
                </a:solidFill>
                <a:latin typeface="Calibri" pitchFamily="34" charset="0"/>
                <a:ea typeface="Calibri" pitchFamily="34" charset="-122"/>
                <a:cs typeface="Calibri" pitchFamily="34" charset="-120"/>
              </a:rPr>
              <a:t>raw monthly</a:t>
            </a:r>
            <a:endParaRPr lang="en-US" sz="1200" dirty="0"/>
          </a:p>
        </p:txBody>
      </p:sp>
      <p:sp>
        <p:nvSpPr>
          <p:cNvPr id="91" name="Text 82"/>
          <p:cNvSpPr/>
          <p:nvPr/>
        </p:nvSpPr>
        <p:spPr>
          <a:xfrm>
            <a:off x="17915001" y="7452284"/>
            <a:ext cx="3272028" cy="215265"/>
          </a:xfrm>
          <a:prstGeom prst="rect">
            <a:avLst/>
          </a:prstGeom>
          <a:noFill/>
          <a:ln/>
        </p:spPr>
        <p:txBody>
          <a:bodyPr wrap="square" lIns="0" tIns="0" rIns="0" bIns="0" rtlCol="0" anchor="ctr"/>
          <a:lstStyle/>
          <a:p>
            <a:pPr marL="0" indent="0" algn="l">
              <a:buNone/>
            </a:pPr>
            <a:r>
              <a:rPr lang="en-US" sz="1600" b="1" dirty="0">
                <a:solidFill>
                  <a:srgbClr val="0F2847"/>
                </a:solidFill>
                <a:latin typeface="Consolas" pitchFamily="34" charset="0"/>
                <a:ea typeface="Consolas" pitchFamily="34" charset="-122"/>
                <a:cs typeface="Consolas" pitchFamily="34" charset="-120"/>
              </a:rPr>
              <a:t>soilw_yr01</a:t>
            </a:r>
            <a:endParaRPr lang="en-US" sz="1600" dirty="0"/>
          </a:p>
        </p:txBody>
      </p:sp>
      <p:sp>
        <p:nvSpPr>
          <p:cNvPr id="92" name="Text 83"/>
          <p:cNvSpPr/>
          <p:nvPr/>
        </p:nvSpPr>
        <p:spPr>
          <a:xfrm>
            <a:off x="17915001" y="7667549"/>
            <a:ext cx="3272028" cy="172212"/>
          </a:xfrm>
          <a:prstGeom prst="rect">
            <a:avLst/>
          </a:prstGeom>
          <a:noFill/>
          <a:ln/>
        </p:spPr>
        <p:txBody>
          <a:bodyPr wrap="square" lIns="0" tIns="0" rIns="0" bIns="0" rtlCol="0" anchor="ctr"/>
          <a:lstStyle/>
          <a:p>
            <a:pPr marL="0" indent="0" algn="l">
              <a:buNone/>
            </a:pPr>
            <a:r>
              <a:rPr lang="en-US" sz="1200" i="1" dirty="0">
                <a:solidFill>
                  <a:srgbClr val="1B6E8C"/>
                </a:solidFill>
                <a:latin typeface="Calibri" pitchFamily="34" charset="0"/>
                <a:ea typeface="Calibri" pitchFamily="34" charset="-122"/>
                <a:cs typeface="Calibri" pitchFamily="34" charset="-120"/>
              </a:rPr>
              <a:t>1-year avg</a:t>
            </a:r>
            <a:endParaRPr lang="en-US" sz="1200" dirty="0"/>
          </a:p>
        </p:txBody>
      </p:sp>
      <p:sp>
        <p:nvSpPr>
          <p:cNvPr id="93" name="Text 84"/>
          <p:cNvSpPr/>
          <p:nvPr/>
        </p:nvSpPr>
        <p:spPr>
          <a:xfrm>
            <a:off x="17915001" y="8089468"/>
            <a:ext cx="3272028" cy="215265"/>
          </a:xfrm>
          <a:prstGeom prst="rect">
            <a:avLst/>
          </a:prstGeom>
          <a:noFill/>
          <a:ln/>
        </p:spPr>
        <p:txBody>
          <a:bodyPr wrap="square" lIns="0" tIns="0" rIns="0" bIns="0" rtlCol="0" anchor="ctr"/>
          <a:lstStyle/>
          <a:p>
            <a:pPr marL="0" indent="0" algn="l">
              <a:buNone/>
            </a:pPr>
            <a:r>
              <a:rPr lang="en-US" sz="1600" b="1" dirty="0">
                <a:solidFill>
                  <a:srgbClr val="0F2847"/>
                </a:solidFill>
                <a:latin typeface="Consolas" pitchFamily="34" charset="0"/>
                <a:ea typeface="Consolas" pitchFamily="34" charset="-122"/>
                <a:cs typeface="Consolas" pitchFamily="34" charset="-120"/>
              </a:rPr>
              <a:t>soilw_yr03</a:t>
            </a:r>
            <a:endParaRPr lang="en-US" sz="1600" dirty="0"/>
          </a:p>
        </p:txBody>
      </p:sp>
      <p:sp>
        <p:nvSpPr>
          <p:cNvPr id="94" name="Text 85"/>
          <p:cNvSpPr/>
          <p:nvPr/>
        </p:nvSpPr>
        <p:spPr>
          <a:xfrm>
            <a:off x="17915001" y="8304733"/>
            <a:ext cx="3272028" cy="172212"/>
          </a:xfrm>
          <a:prstGeom prst="rect">
            <a:avLst/>
          </a:prstGeom>
          <a:noFill/>
          <a:ln/>
        </p:spPr>
        <p:txBody>
          <a:bodyPr wrap="square" lIns="0" tIns="0" rIns="0" bIns="0" rtlCol="0" anchor="ctr"/>
          <a:lstStyle/>
          <a:p>
            <a:pPr marL="0" indent="0" algn="l">
              <a:buNone/>
            </a:pPr>
            <a:r>
              <a:rPr lang="en-US" sz="1200" i="1" dirty="0">
                <a:solidFill>
                  <a:srgbClr val="1B6E8C"/>
                </a:solidFill>
                <a:latin typeface="Calibri" pitchFamily="34" charset="0"/>
                <a:ea typeface="Calibri" pitchFamily="34" charset="-122"/>
                <a:cs typeface="Calibri" pitchFamily="34" charset="-120"/>
              </a:rPr>
              <a:t>3-year avg</a:t>
            </a:r>
            <a:endParaRPr lang="en-US" sz="1200" dirty="0"/>
          </a:p>
        </p:txBody>
      </p:sp>
      <p:sp>
        <p:nvSpPr>
          <p:cNvPr id="95" name="Text 86"/>
          <p:cNvSpPr/>
          <p:nvPr/>
        </p:nvSpPr>
        <p:spPr>
          <a:xfrm>
            <a:off x="17915001" y="8726653"/>
            <a:ext cx="3272028" cy="215265"/>
          </a:xfrm>
          <a:prstGeom prst="rect">
            <a:avLst/>
          </a:prstGeom>
          <a:noFill/>
          <a:ln/>
        </p:spPr>
        <p:txBody>
          <a:bodyPr wrap="square" lIns="0" tIns="0" rIns="0" bIns="0" rtlCol="0" anchor="ctr"/>
          <a:lstStyle/>
          <a:p>
            <a:pPr marL="0" indent="0" algn="l">
              <a:buNone/>
            </a:pPr>
            <a:r>
              <a:rPr lang="en-US" sz="1600" b="1" dirty="0">
                <a:solidFill>
                  <a:srgbClr val="0F2847"/>
                </a:solidFill>
                <a:latin typeface="Consolas" pitchFamily="34" charset="0"/>
                <a:ea typeface="Consolas" pitchFamily="34" charset="-122"/>
                <a:cs typeface="Consolas" pitchFamily="34" charset="-120"/>
              </a:rPr>
              <a:t>soilw_yr05</a:t>
            </a:r>
            <a:endParaRPr lang="en-US" sz="1600" dirty="0"/>
          </a:p>
        </p:txBody>
      </p:sp>
      <p:sp>
        <p:nvSpPr>
          <p:cNvPr id="96" name="Text 87"/>
          <p:cNvSpPr/>
          <p:nvPr/>
        </p:nvSpPr>
        <p:spPr>
          <a:xfrm>
            <a:off x="17915001" y="8941918"/>
            <a:ext cx="3272028" cy="172212"/>
          </a:xfrm>
          <a:prstGeom prst="rect">
            <a:avLst/>
          </a:prstGeom>
          <a:noFill/>
          <a:ln/>
        </p:spPr>
        <p:txBody>
          <a:bodyPr wrap="square" lIns="0" tIns="0" rIns="0" bIns="0" rtlCol="0" anchor="ctr"/>
          <a:lstStyle/>
          <a:p>
            <a:pPr marL="0" indent="0" algn="l">
              <a:buNone/>
            </a:pPr>
            <a:r>
              <a:rPr lang="en-US" sz="1200" i="1" dirty="0">
                <a:solidFill>
                  <a:srgbClr val="1B6E8C"/>
                </a:solidFill>
                <a:latin typeface="Calibri" pitchFamily="34" charset="0"/>
                <a:ea typeface="Calibri" pitchFamily="34" charset="-122"/>
                <a:cs typeface="Calibri" pitchFamily="34" charset="-120"/>
              </a:rPr>
              <a:t>5-year avg</a:t>
            </a:r>
            <a:endParaRPr lang="en-US" sz="1200" dirty="0"/>
          </a:p>
        </p:txBody>
      </p:sp>
      <p:sp>
        <p:nvSpPr>
          <p:cNvPr id="97" name="Text 88"/>
          <p:cNvSpPr/>
          <p:nvPr/>
        </p:nvSpPr>
        <p:spPr>
          <a:xfrm>
            <a:off x="17915001" y="9363837"/>
            <a:ext cx="3272028" cy="215265"/>
          </a:xfrm>
          <a:prstGeom prst="rect">
            <a:avLst/>
          </a:prstGeom>
          <a:noFill/>
          <a:ln/>
        </p:spPr>
        <p:txBody>
          <a:bodyPr wrap="square" lIns="0" tIns="0" rIns="0" bIns="0" rtlCol="0" anchor="ctr"/>
          <a:lstStyle/>
          <a:p>
            <a:pPr marL="0" indent="0" algn="l">
              <a:buNone/>
            </a:pPr>
            <a:r>
              <a:rPr lang="en-US" sz="1600" b="1" dirty="0">
                <a:solidFill>
                  <a:srgbClr val="0F2847"/>
                </a:solidFill>
                <a:latin typeface="Consolas" pitchFamily="34" charset="0"/>
                <a:ea typeface="Consolas" pitchFamily="34" charset="-122"/>
                <a:cs typeface="Consolas" pitchFamily="34" charset="-120"/>
              </a:rPr>
              <a:t>soilw_yr10</a:t>
            </a:r>
            <a:endParaRPr lang="en-US" sz="1600" dirty="0"/>
          </a:p>
        </p:txBody>
      </p:sp>
      <p:sp>
        <p:nvSpPr>
          <p:cNvPr id="98" name="Text 89"/>
          <p:cNvSpPr/>
          <p:nvPr/>
        </p:nvSpPr>
        <p:spPr>
          <a:xfrm>
            <a:off x="17915001" y="9579102"/>
            <a:ext cx="3272028" cy="172212"/>
          </a:xfrm>
          <a:prstGeom prst="rect">
            <a:avLst/>
          </a:prstGeom>
          <a:noFill/>
          <a:ln/>
        </p:spPr>
        <p:txBody>
          <a:bodyPr wrap="square" lIns="0" tIns="0" rIns="0" bIns="0" rtlCol="0" anchor="ctr"/>
          <a:lstStyle/>
          <a:p>
            <a:pPr marL="0" indent="0" algn="l">
              <a:buNone/>
            </a:pPr>
            <a:r>
              <a:rPr lang="en-US" sz="1200" i="1" dirty="0">
                <a:solidFill>
                  <a:srgbClr val="1B6E8C"/>
                </a:solidFill>
                <a:latin typeface="Calibri" pitchFamily="34" charset="0"/>
                <a:ea typeface="Calibri" pitchFamily="34" charset="-122"/>
                <a:cs typeface="Calibri" pitchFamily="34" charset="-120"/>
              </a:rPr>
              <a:t>10-year avg</a:t>
            </a:r>
            <a:endParaRPr lang="en-US" sz="1200" dirty="0"/>
          </a:p>
        </p:txBody>
      </p:sp>
      <p:sp>
        <p:nvSpPr>
          <p:cNvPr id="99" name="Shape 90"/>
          <p:cNvSpPr/>
          <p:nvPr/>
        </p:nvSpPr>
        <p:spPr>
          <a:xfrm>
            <a:off x="11155680" y="12426353"/>
            <a:ext cx="868680" cy="868680"/>
          </a:xfrm>
          <a:prstGeom prst="ellipse">
            <a:avLst/>
          </a:prstGeom>
          <a:solidFill>
            <a:srgbClr val="1B6E8C"/>
          </a:solidFill>
          <a:ln w="12700">
            <a:solidFill>
              <a:srgbClr val="1B6E8C"/>
            </a:solidFill>
            <a:prstDash val="solid"/>
          </a:ln>
        </p:spPr>
        <p:txBody>
          <a:bodyPr/>
          <a:lstStyle/>
          <a:p>
            <a:endParaRPr lang="en-US"/>
          </a:p>
        </p:txBody>
      </p:sp>
      <p:sp>
        <p:nvSpPr>
          <p:cNvPr id="100" name="Text 91"/>
          <p:cNvSpPr/>
          <p:nvPr/>
        </p:nvSpPr>
        <p:spPr>
          <a:xfrm>
            <a:off x="11155680" y="12426353"/>
            <a:ext cx="868680" cy="86868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5</a:t>
            </a:r>
            <a:endParaRPr lang="en-US" sz="4000" dirty="0"/>
          </a:p>
        </p:txBody>
      </p:sp>
      <p:sp>
        <p:nvSpPr>
          <p:cNvPr id="101" name="Text 92"/>
          <p:cNvSpPr/>
          <p:nvPr/>
        </p:nvSpPr>
        <p:spPr>
          <a:xfrm>
            <a:off x="12161520" y="12426353"/>
            <a:ext cx="9326880" cy="868680"/>
          </a:xfrm>
          <a:prstGeom prst="rect">
            <a:avLst/>
          </a:prstGeom>
          <a:noFill/>
          <a:ln/>
        </p:spPr>
        <p:txBody>
          <a:bodyPr wrap="square" lIns="0" tIns="0" rIns="0" bIns="0" rtlCol="0" anchor="ctr"/>
          <a:lstStyle/>
          <a:p>
            <a:pPr marL="0" indent="0" algn="l">
              <a:buNone/>
            </a:pPr>
            <a:r>
              <a:rPr lang="en-US" sz="3400" b="1" dirty="0">
                <a:solidFill>
                  <a:srgbClr val="0F2847"/>
                </a:solidFill>
                <a:latin typeface="Calibri" pitchFamily="34" charset="0"/>
                <a:ea typeface="Calibri" pitchFamily="34" charset="-122"/>
                <a:cs typeface="Calibri" pitchFamily="34" charset="-120"/>
              </a:rPr>
              <a:t>The Combined Pipeline</a:t>
            </a:r>
            <a:endParaRPr lang="en-US" sz="3400" dirty="0"/>
          </a:p>
        </p:txBody>
      </p:sp>
      <p:sp>
        <p:nvSpPr>
          <p:cNvPr id="102" name="Shape 93"/>
          <p:cNvSpPr/>
          <p:nvPr/>
        </p:nvSpPr>
        <p:spPr>
          <a:xfrm>
            <a:off x="12161520" y="13231025"/>
            <a:ext cx="9326880" cy="54864"/>
          </a:xfrm>
          <a:prstGeom prst="rect">
            <a:avLst/>
          </a:prstGeom>
          <a:solidFill>
            <a:srgbClr val="1B6E8C"/>
          </a:solidFill>
          <a:ln w="12700">
            <a:solidFill>
              <a:srgbClr val="1B6E8C"/>
            </a:solidFill>
            <a:prstDash val="solid"/>
          </a:ln>
        </p:spPr>
        <p:txBody>
          <a:bodyPr/>
          <a:lstStyle/>
          <a:p>
            <a:endParaRPr lang="en-US"/>
          </a:p>
        </p:txBody>
      </p:sp>
      <p:sp>
        <p:nvSpPr>
          <p:cNvPr id="103" name="Shape 94"/>
          <p:cNvSpPr/>
          <p:nvPr/>
        </p:nvSpPr>
        <p:spPr>
          <a:xfrm>
            <a:off x="11155680" y="13477913"/>
            <a:ext cx="10332720" cy="1508760"/>
          </a:xfrm>
          <a:prstGeom prst="rect">
            <a:avLst/>
          </a:prstGeom>
          <a:solidFill>
            <a:srgbClr val="1B6E8C"/>
          </a:solidFill>
          <a:ln w="12700">
            <a:solidFill>
              <a:srgbClr val="1B6E8C"/>
            </a:solidFill>
            <a:prstDash val="solid"/>
          </a:ln>
        </p:spPr>
        <p:txBody>
          <a:bodyPr/>
          <a:lstStyle/>
          <a:p>
            <a:endParaRPr lang="en-US"/>
          </a:p>
        </p:txBody>
      </p:sp>
      <p:sp>
        <p:nvSpPr>
          <p:cNvPr id="104" name="Shape 95"/>
          <p:cNvSpPr/>
          <p:nvPr/>
        </p:nvSpPr>
        <p:spPr>
          <a:xfrm>
            <a:off x="11155680" y="13477913"/>
            <a:ext cx="164592" cy="1508760"/>
          </a:xfrm>
          <a:prstGeom prst="rect">
            <a:avLst/>
          </a:prstGeom>
          <a:solidFill>
            <a:srgbClr val="0F2847"/>
          </a:solidFill>
          <a:ln w="12700">
            <a:solidFill>
              <a:srgbClr val="0F2847"/>
            </a:solidFill>
            <a:prstDash val="solid"/>
          </a:ln>
        </p:spPr>
        <p:txBody>
          <a:bodyPr/>
          <a:lstStyle/>
          <a:p>
            <a:endParaRPr lang="en-US"/>
          </a:p>
        </p:txBody>
      </p:sp>
      <p:sp>
        <p:nvSpPr>
          <p:cNvPr id="105" name="Text 96"/>
          <p:cNvSpPr/>
          <p:nvPr/>
        </p:nvSpPr>
        <p:spPr>
          <a:xfrm>
            <a:off x="11567160" y="13587641"/>
            <a:ext cx="9784080" cy="512064"/>
          </a:xfrm>
          <a:prstGeom prst="rect">
            <a:avLst/>
          </a:prstGeom>
          <a:noFill/>
          <a:ln/>
        </p:spPr>
        <p:txBody>
          <a:bodyPr wrap="square" lIns="0" tIns="0" rIns="0" bIns="0" rtlCol="0" anchor="ctr"/>
          <a:lstStyle/>
          <a:p>
            <a:pPr marL="0" indent="0">
              <a:buNone/>
            </a:pPr>
            <a:r>
              <a:rPr lang="en-US" sz="2600" b="1" kern="0" spc="300" dirty="0">
                <a:solidFill>
                  <a:srgbClr val="E8B830"/>
                </a:solidFill>
                <a:latin typeface="Calibri" pitchFamily="34" charset="0"/>
                <a:ea typeface="Calibri" pitchFamily="34" charset="-122"/>
                <a:cs typeface="Calibri" pitchFamily="34" charset="-120"/>
              </a:rPr>
              <a:t>STAGE 1</a:t>
            </a:r>
            <a:r>
              <a:rPr lang="en-US" sz="2600" dirty="0">
                <a:solidFill>
                  <a:srgbClr val="FFFFFF"/>
                </a:solidFill>
                <a:latin typeface="Calibri" pitchFamily="34" charset="0"/>
                <a:ea typeface="Calibri" pitchFamily="34" charset="-122"/>
                <a:cs typeface="Calibri" pitchFamily="34" charset="-120"/>
              </a:rPr>
              <a:t>   ·   </a:t>
            </a:r>
            <a:r>
              <a:rPr lang="en-US" sz="2600" b="1" dirty="0">
                <a:solidFill>
                  <a:srgbClr val="FFFFFF"/>
                </a:solidFill>
                <a:latin typeface="Calibri" pitchFamily="34" charset="0"/>
                <a:ea typeface="Calibri" pitchFamily="34" charset="-122"/>
                <a:cs typeface="Calibri" pitchFamily="34" charset="-120"/>
              </a:rPr>
              <a:t> PCHIP</a:t>
            </a:r>
            <a:endParaRPr lang="en-US" sz="2600" dirty="0"/>
          </a:p>
        </p:txBody>
      </p:sp>
      <p:sp>
        <p:nvSpPr>
          <p:cNvPr id="106" name="Text 97"/>
          <p:cNvSpPr/>
          <p:nvPr/>
        </p:nvSpPr>
        <p:spPr>
          <a:xfrm>
            <a:off x="11567160" y="14117993"/>
            <a:ext cx="9784080" cy="1005840"/>
          </a:xfrm>
          <a:prstGeom prst="rect">
            <a:avLst/>
          </a:prstGeom>
          <a:noFill/>
          <a:ln/>
        </p:spPr>
        <p:txBody>
          <a:bodyPr wrap="square" lIns="0" tIns="0" rIns="0" bIns="0" rtlCol="0" anchor="t"/>
          <a:lstStyle/>
          <a:p>
            <a:r>
              <a:rPr lang="en-US" sz="1900" dirty="0">
                <a:solidFill>
                  <a:srgbClr val="FFFFFF"/>
                </a:solidFill>
                <a:latin typeface="Calibri" pitchFamily="34" charset="0"/>
                <a:ea typeface="Calibri" pitchFamily="34" charset="-122"/>
                <a:cs typeface="Calibri" pitchFamily="34" charset="-120"/>
              </a:rPr>
              <a:t>Shape-preserving interpolation for short gaps. Densifies the network for better donor correlations.</a:t>
            </a:r>
            <a:endParaRPr lang="en-US" sz="1900" dirty="0"/>
          </a:p>
        </p:txBody>
      </p:sp>
      <p:sp>
        <p:nvSpPr>
          <p:cNvPr id="107" name="Shape 98"/>
          <p:cNvSpPr/>
          <p:nvPr/>
        </p:nvSpPr>
        <p:spPr>
          <a:xfrm>
            <a:off x="16120872" y="14968385"/>
            <a:ext cx="402336" cy="256032"/>
          </a:xfrm>
          <a:prstGeom prst="downArrow">
            <a:avLst/>
          </a:prstGeom>
          <a:solidFill>
            <a:srgbClr val="1B6E8C"/>
          </a:solidFill>
          <a:ln w="12700">
            <a:solidFill>
              <a:srgbClr val="1B6E8C"/>
            </a:solidFill>
            <a:prstDash val="solid"/>
          </a:ln>
        </p:spPr>
        <p:txBody>
          <a:bodyPr/>
          <a:lstStyle/>
          <a:p>
            <a:endParaRPr lang="en-US"/>
          </a:p>
        </p:txBody>
      </p:sp>
      <p:sp>
        <p:nvSpPr>
          <p:cNvPr id="108" name="Shape 99"/>
          <p:cNvSpPr/>
          <p:nvPr/>
        </p:nvSpPr>
        <p:spPr>
          <a:xfrm>
            <a:off x="11155680" y="15187841"/>
            <a:ext cx="10332720" cy="1508760"/>
          </a:xfrm>
          <a:prstGeom prst="rect">
            <a:avLst/>
          </a:prstGeom>
          <a:solidFill>
            <a:srgbClr val="1B6E8C"/>
          </a:solidFill>
          <a:ln w="12700">
            <a:solidFill>
              <a:srgbClr val="1B6E8C"/>
            </a:solidFill>
            <a:prstDash val="solid"/>
          </a:ln>
        </p:spPr>
        <p:txBody>
          <a:bodyPr/>
          <a:lstStyle/>
          <a:p>
            <a:endParaRPr lang="en-US"/>
          </a:p>
        </p:txBody>
      </p:sp>
      <p:sp>
        <p:nvSpPr>
          <p:cNvPr id="109" name="Shape 100"/>
          <p:cNvSpPr/>
          <p:nvPr/>
        </p:nvSpPr>
        <p:spPr>
          <a:xfrm>
            <a:off x="11155680" y="15187841"/>
            <a:ext cx="164592" cy="1508760"/>
          </a:xfrm>
          <a:prstGeom prst="rect">
            <a:avLst/>
          </a:prstGeom>
          <a:solidFill>
            <a:srgbClr val="0F2847"/>
          </a:solidFill>
          <a:ln w="12700">
            <a:solidFill>
              <a:srgbClr val="0F2847"/>
            </a:solidFill>
            <a:prstDash val="solid"/>
          </a:ln>
        </p:spPr>
        <p:txBody>
          <a:bodyPr/>
          <a:lstStyle/>
          <a:p>
            <a:endParaRPr lang="en-US"/>
          </a:p>
        </p:txBody>
      </p:sp>
      <p:sp>
        <p:nvSpPr>
          <p:cNvPr id="110" name="Text 101"/>
          <p:cNvSpPr/>
          <p:nvPr/>
        </p:nvSpPr>
        <p:spPr>
          <a:xfrm>
            <a:off x="11567160" y="15297569"/>
            <a:ext cx="9784080" cy="512064"/>
          </a:xfrm>
          <a:prstGeom prst="rect">
            <a:avLst/>
          </a:prstGeom>
          <a:noFill/>
          <a:ln/>
        </p:spPr>
        <p:txBody>
          <a:bodyPr wrap="square" lIns="0" tIns="0" rIns="0" bIns="0" rtlCol="0" anchor="ctr"/>
          <a:lstStyle/>
          <a:p>
            <a:pPr marL="0" indent="0">
              <a:buNone/>
            </a:pPr>
            <a:r>
              <a:rPr lang="en-US" sz="2600" b="1" kern="0" spc="300" dirty="0">
                <a:solidFill>
                  <a:srgbClr val="E8B830"/>
                </a:solidFill>
                <a:latin typeface="Calibri" pitchFamily="34" charset="0"/>
                <a:ea typeface="Calibri" pitchFamily="34" charset="-122"/>
                <a:cs typeface="Calibri" pitchFamily="34" charset="-120"/>
              </a:rPr>
              <a:t>STAGE 2</a:t>
            </a:r>
            <a:r>
              <a:rPr lang="en-US" sz="2600" dirty="0">
                <a:solidFill>
                  <a:srgbClr val="FFFFFF"/>
                </a:solidFill>
                <a:latin typeface="Calibri" pitchFamily="34" charset="0"/>
                <a:ea typeface="Calibri" pitchFamily="34" charset="-122"/>
                <a:cs typeface="Calibri" pitchFamily="34" charset="-120"/>
              </a:rPr>
              <a:t>   ·   </a:t>
            </a:r>
            <a:r>
              <a:rPr lang="en-US" sz="2600" b="1" dirty="0">
                <a:solidFill>
                  <a:srgbClr val="FFFFFF"/>
                </a:solidFill>
                <a:latin typeface="Calibri" pitchFamily="34" charset="0"/>
                <a:ea typeface="Calibri" pitchFamily="34" charset="-122"/>
                <a:cs typeface="Calibri" pitchFamily="34" charset="-120"/>
              </a:rPr>
              <a:t> Matrix Completion</a:t>
            </a:r>
            <a:endParaRPr lang="en-US" sz="2600" dirty="0"/>
          </a:p>
        </p:txBody>
      </p:sp>
      <p:sp>
        <p:nvSpPr>
          <p:cNvPr id="111" name="Text 102"/>
          <p:cNvSpPr/>
          <p:nvPr/>
        </p:nvSpPr>
        <p:spPr>
          <a:xfrm>
            <a:off x="11567160" y="15827921"/>
            <a:ext cx="9784080" cy="1005840"/>
          </a:xfrm>
          <a:prstGeom prst="rect">
            <a:avLst/>
          </a:prstGeom>
          <a:noFill/>
          <a:ln/>
        </p:spPr>
        <p:txBody>
          <a:bodyPr wrap="square" lIns="0" tIns="0" rIns="0" bIns="0" rtlCol="0" anchor="t"/>
          <a:lstStyle/>
          <a:p>
            <a:r>
              <a:rPr lang="en-US" sz="1900" dirty="0">
                <a:solidFill>
                  <a:srgbClr val="FFFFFF"/>
                </a:solidFill>
                <a:latin typeface="Calibri" pitchFamily="34" charset="0"/>
                <a:ea typeface="Calibri" pitchFamily="34" charset="-122"/>
                <a:cs typeface="Calibri" pitchFamily="34" charset="-120"/>
              </a:rPr>
              <a:t>ARCHI selects the top-15 donors. SoftImpute on composite matrix with adaptive SVD rank (3–12). </a:t>
            </a:r>
            <a:endParaRPr lang="en-US" sz="1900" dirty="0"/>
          </a:p>
        </p:txBody>
      </p:sp>
      <p:sp>
        <p:nvSpPr>
          <p:cNvPr id="112" name="Shape 103"/>
          <p:cNvSpPr/>
          <p:nvPr/>
        </p:nvSpPr>
        <p:spPr>
          <a:xfrm>
            <a:off x="16120872" y="16678313"/>
            <a:ext cx="402336" cy="256032"/>
          </a:xfrm>
          <a:prstGeom prst="downArrow">
            <a:avLst/>
          </a:prstGeom>
          <a:solidFill>
            <a:srgbClr val="1B6E8C"/>
          </a:solidFill>
          <a:ln w="12700">
            <a:solidFill>
              <a:srgbClr val="1B6E8C"/>
            </a:solidFill>
            <a:prstDash val="solid"/>
          </a:ln>
        </p:spPr>
        <p:txBody>
          <a:bodyPr/>
          <a:lstStyle/>
          <a:p>
            <a:endParaRPr lang="en-US"/>
          </a:p>
        </p:txBody>
      </p:sp>
      <p:sp>
        <p:nvSpPr>
          <p:cNvPr id="113" name="Shape 104"/>
          <p:cNvSpPr/>
          <p:nvPr/>
        </p:nvSpPr>
        <p:spPr>
          <a:xfrm>
            <a:off x="11155680" y="16897769"/>
            <a:ext cx="10332720" cy="1508760"/>
          </a:xfrm>
          <a:prstGeom prst="rect">
            <a:avLst/>
          </a:prstGeom>
          <a:solidFill>
            <a:srgbClr val="1B6E8C"/>
          </a:solidFill>
          <a:ln w="12700">
            <a:solidFill>
              <a:srgbClr val="1B6E8C"/>
            </a:solidFill>
            <a:prstDash val="solid"/>
          </a:ln>
        </p:spPr>
        <p:txBody>
          <a:bodyPr/>
          <a:lstStyle/>
          <a:p>
            <a:endParaRPr lang="en-US"/>
          </a:p>
        </p:txBody>
      </p:sp>
      <p:sp>
        <p:nvSpPr>
          <p:cNvPr id="114" name="Shape 105"/>
          <p:cNvSpPr/>
          <p:nvPr/>
        </p:nvSpPr>
        <p:spPr>
          <a:xfrm>
            <a:off x="11155680" y="16897769"/>
            <a:ext cx="164592" cy="1508760"/>
          </a:xfrm>
          <a:prstGeom prst="rect">
            <a:avLst/>
          </a:prstGeom>
          <a:solidFill>
            <a:srgbClr val="0F2847"/>
          </a:solidFill>
          <a:ln w="12700">
            <a:solidFill>
              <a:srgbClr val="0F2847"/>
            </a:solidFill>
            <a:prstDash val="solid"/>
          </a:ln>
        </p:spPr>
        <p:txBody>
          <a:bodyPr/>
          <a:lstStyle/>
          <a:p>
            <a:endParaRPr lang="en-US"/>
          </a:p>
        </p:txBody>
      </p:sp>
      <p:sp>
        <p:nvSpPr>
          <p:cNvPr id="115" name="Text 106"/>
          <p:cNvSpPr/>
          <p:nvPr/>
        </p:nvSpPr>
        <p:spPr>
          <a:xfrm>
            <a:off x="11567160" y="17007497"/>
            <a:ext cx="9784080" cy="512064"/>
          </a:xfrm>
          <a:prstGeom prst="rect">
            <a:avLst/>
          </a:prstGeom>
          <a:noFill/>
          <a:ln/>
        </p:spPr>
        <p:txBody>
          <a:bodyPr wrap="square" lIns="0" tIns="0" rIns="0" bIns="0" rtlCol="0" anchor="ctr"/>
          <a:lstStyle/>
          <a:p>
            <a:pPr marL="0" indent="0">
              <a:buNone/>
            </a:pPr>
            <a:r>
              <a:rPr lang="en-US" sz="2600" b="1" kern="0" spc="300" dirty="0">
                <a:solidFill>
                  <a:srgbClr val="E8B830"/>
                </a:solidFill>
                <a:latin typeface="Calibri" pitchFamily="34" charset="0"/>
                <a:ea typeface="Calibri" pitchFamily="34" charset="-122"/>
                <a:cs typeface="Calibri" pitchFamily="34" charset="-120"/>
              </a:rPr>
              <a:t>STAGE 3</a:t>
            </a:r>
            <a:r>
              <a:rPr lang="en-US" sz="2600" dirty="0">
                <a:solidFill>
                  <a:srgbClr val="FFFFFF"/>
                </a:solidFill>
                <a:latin typeface="Calibri" pitchFamily="34" charset="0"/>
                <a:ea typeface="Calibri" pitchFamily="34" charset="-122"/>
                <a:cs typeface="Calibri" pitchFamily="34" charset="-120"/>
              </a:rPr>
              <a:t>   ·   </a:t>
            </a:r>
            <a:r>
              <a:rPr lang="en-US" sz="2600" b="1" dirty="0">
                <a:solidFill>
                  <a:srgbClr val="FFFFFF"/>
                </a:solidFill>
                <a:latin typeface="Calibri" pitchFamily="34" charset="0"/>
                <a:ea typeface="Calibri" pitchFamily="34" charset="-122"/>
                <a:cs typeface="Calibri" pitchFamily="34" charset="-120"/>
              </a:rPr>
              <a:t> LNN Refinement</a:t>
            </a:r>
            <a:endParaRPr lang="en-US" sz="2600" dirty="0"/>
          </a:p>
        </p:txBody>
      </p:sp>
      <p:sp>
        <p:nvSpPr>
          <p:cNvPr id="116" name="Text 107"/>
          <p:cNvSpPr/>
          <p:nvPr/>
        </p:nvSpPr>
        <p:spPr>
          <a:xfrm>
            <a:off x="11567160" y="17537849"/>
            <a:ext cx="9784080" cy="1005840"/>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Continuous-time CFC dynamics. MC output drives the reservoir; readout trained on real observations only.</a:t>
            </a:r>
            <a:endParaRPr lang="en-US" sz="1900" dirty="0"/>
          </a:p>
        </p:txBody>
      </p:sp>
      <p:sp>
        <p:nvSpPr>
          <p:cNvPr id="117" name="Shape 108"/>
          <p:cNvSpPr/>
          <p:nvPr/>
        </p:nvSpPr>
        <p:spPr>
          <a:xfrm>
            <a:off x="11155680" y="18589409"/>
            <a:ext cx="10332720" cy="1097280"/>
          </a:xfrm>
          <a:prstGeom prst="rect">
            <a:avLst/>
          </a:prstGeom>
          <a:solidFill>
            <a:srgbClr val="1B6E8C"/>
          </a:solidFill>
          <a:ln w="25400">
            <a:solidFill>
              <a:srgbClr val="0F2847"/>
            </a:solidFill>
            <a:prstDash val="solid"/>
          </a:ln>
        </p:spPr>
        <p:txBody>
          <a:bodyPr/>
          <a:lstStyle/>
          <a:p>
            <a:endParaRPr lang="en-US"/>
          </a:p>
        </p:txBody>
      </p:sp>
      <p:sp>
        <p:nvSpPr>
          <p:cNvPr id="118" name="Text 109"/>
          <p:cNvSpPr/>
          <p:nvPr/>
        </p:nvSpPr>
        <p:spPr>
          <a:xfrm>
            <a:off x="11430000" y="18662561"/>
            <a:ext cx="9784080" cy="1005840"/>
          </a:xfrm>
          <a:prstGeom prst="rect">
            <a:avLst/>
          </a:prstGeom>
          <a:noFill/>
          <a:ln/>
        </p:spPr>
        <p:txBody>
          <a:bodyPr wrap="square" lIns="0" tIns="0" rIns="0" bIns="0" rtlCol="0" anchor="t"/>
          <a:lstStyle/>
          <a:p>
            <a:pPr marL="0" indent="0">
              <a:spcAft>
                <a:spcPts val="400"/>
              </a:spcAft>
              <a:buNone/>
            </a:pPr>
            <a:r>
              <a:rPr lang="en-US" sz="1900" b="1" kern="0" spc="300" dirty="0">
                <a:solidFill>
                  <a:srgbClr val="E8B830"/>
                </a:solidFill>
                <a:latin typeface="Calibri" pitchFamily="34" charset="0"/>
                <a:ea typeface="Calibri" pitchFamily="34" charset="-122"/>
                <a:cs typeface="Calibri" pitchFamily="34" charset="-120"/>
              </a:rPr>
              <a:t>Design principle  </a:t>
            </a:r>
            <a:endParaRPr lang="en-US" sz="1900" dirty="0"/>
          </a:p>
          <a:p>
            <a:pPr marL="0" indent="0">
              <a:spcAft>
                <a:spcPts val="400"/>
              </a:spcAft>
              <a:buNone/>
            </a:pPr>
            <a:r>
              <a:rPr lang="en-US" sz="1700" i="1" dirty="0">
                <a:solidFill>
                  <a:srgbClr val="FFFFFF"/>
                </a:solidFill>
                <a:latin typeface="Calibri" pitchFamily="34" charset="0"/>
                <a:ea typeface="Calibri" pitchFamily="34" charset="-122"/>
                <a:cs typeface="Calibri" pitchFamily="34" charset="-120"/>
              </a:rPr>
              <a:t>MC supplies spatial context (what do nearby wells say?). LNN supplies temporal dynamics (how does the system evolve between observations?). Neither alone delivers what the coupled framework does.</a:t>
            </a:r>
            <a:endParaRPr lang="en-US" sz="1900" dirty="0"/>
          </a:p>
        </p:txBody>
      </p:sp>
      <p:sp>
        <p:nvSpPr>
          <p:cNvPr id="119" name="Shape 110"/>
          <p:cNvSpPr/>
          <p:nvPr/>
        </p:nvSpPr>
        <p:spPr>
          <a:xfrm>
            <a:off x="11155680" y="19823849"/>
            <a:ext cx="868680" cy="868680"/>
          </a:xfrm>
          <a:prstGeom prst="ellipse">
            <a:avLst/>
          </a:prstGeom>
          <a:solidFill>
            <a:srgbClr val="1B6E8C"/>
          </a:solidFill>
          <a:ln w="12700">
            <a:solidFill>
              <a:srgbClr val="1B6E8C"/>
            </a:solidFill>
            <a:prstDash val="solid"/>
          </a:ln>
        </p:spPr>
        <p:txBody>
          <a:bodyPr/>
          <a:lstStyle/>
          <a:p>
            <a:endParaRPr lang="en-US"/>
          </a:p>
        </p:txBody>
      </p:sp>
      <p:sp>
        <p:nvSpPr>
          <p:cNvPr id="120" name="Text 111"/>
          <p:cNvSpPr/>
          <p:nvPr/>
        </p:nvSpPr>
        <p:spPr>
          <a:xfrm>
            <a:off x="11155680" y="19823849"/>
            <a:ext cx="868680" cy="86868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6</a:t>
            </a:r>
            <a:endParaRPr lang="en-US" sz="4000" dirty="0"/>
          </a:p>
        </p:txBody>
      </p:sp>
      <p:sp>
        <p:nvSpPr>
          <p:cNvPr id="121" name="Text 112"/>
          <p:cNvSpPr/>
          <p:nvPr/>
        </p:nvSpPr>
        <p:spPr>
          <a:xfrm>
            <a:off x="12161520" y="19823849"/>
            <a:ext cx="9326880" cy="868680"/>
          </a:xfrm>
          <a:prstGeom prst="rect">
            <a:avLst/>
          </a:prstGeom>
          <a:noFill/>
          <a:ln/>
        </p:spPr>
        <p:txBody>
          <a:bodyPr wrap="square" lIns="0" tIns="0" rIns="0" bIns="0" rtlCol="0" anchor="ctr"/>
          <a:lstStyle/>
          <a:p>
            <a:pPr marL="0" indent="0" algn="l">
              <a:buNone/>
            </a:pPr>
            <a:r>
              <a:rPr lang="en-US" sz="3400" b="1" dirty="0">
                <a:solidFill>
                  <a:srgbClr val="0F2847"/>
                </a:solidFill>
                <a:latin typeface="Calibri" pitchFamily="34" charset="0"/>
                <a:ea typeface="Calibri" pitchFamily="34" charset="-122"/>
                <a:cs typeface="Calibri" pitchFamily="34" charset="-120"/>
              </a:rPr>
              <a:t>Cross-Validation Results</a:t>
            </a:r>
            <a:endParaRPr lang="en-US" sz="3400" dirty="0"/>
          </a:p>
        </p:txBody>
      </p:sp>
      <p:sp>
        <p:nvSpPr>
          <p:cNvPr id="122" name="Shape 113"/>
          <p:cNvSpPr/>
          <p:nvPr/>
        </p:nvSpPr>
        <p:spPr>
          <a:xfrm>
            <a:off x="12161520" y="20628521"/>
            <a:ext cx="9326880" cy="54864"/>
          </a:xfrm>
          <a:prstGeom prst="rect">
            <a:avLst/>
          </a:prstGeom>
          <a:solidFill>
            <a:srgbClr val="1B6E8C"/>
          </a:solidFill>
          <a:ln w="12700">
            <a:solidFill>
              <a:srgbClr val="1B6E8C"/>
            </a:solidFill>
            <a:prstDash val="solid"/>
          </a:ln>
        </p:spPr>
        <p:txBody>
          <a:bodyPr/>
          <a:lstStyle/>
          <a:p>
            <a:endParaRPr lang="en-US"/>
          </a:p>
        </p:txBody>
      </p:sp>
      <p:sp>
        <p:nvSpPr>
          <p:cNvPr id="123" name="Text 114"/>
          <p:cNvSpPr/>
          <p:nvPr/>
        </p:nvSpPr>
        <p:spPr>
          <a:xfrm>
            <a:off x="11155680" y="20875409"/>
            <a:ext cx="10332720" cy="420624"/>
          </a:xfrm>
          <a:prstGeom prst="rect">
            <a:avLst/>
          </a:prstGeom>
          <a:noFill/>
          <a:ln/>
        </p:spPr>
        <p:txBody>
          <a:bodyPr wrap="square" lIns="635" tIns="635" rIns="635" bIns="635" rtlCol="0" anchor="t"/>
          <a:lstStyle/>
          <a:p>
            <a:pPr marL="0" indent="0" algn="l">
              <a:spcAft>
                <a:spcPts val="400"/>
              </a:spcAft>
              <a:buNone/>
            </a:pPr>
            <a:r>
              <a:rPr lang="en-US" sz="1900" i="1" dirty="0">
                <a:solidFill>
                  <a:srgbClr val="1B6E8C"/>
                </a:solidFill>
                <a:latin typeface="Calibri" pitchFamily="34" charset="0"/>
                <a:ea typeface="Calibri" pitchFamily="34" charset="-122"/>
                <a:cs typeface="Calibri" pitchFamily="34" charset="-120"/>
              </a:rPr>
              <a:t>592 wells · Great Salt Lake Basin · 2000–2023</a:t>
            </a:r>
            <a:endParaRPr lang="en-US" sz="1900" dirty="0"/>
          </a:p>
        </p:txBody>
      </p:sp>
      <p:sp>
        <p:nvSpPr>
          <p:cNvPr id="124" name="Shape 115"/>
          <p:cNvSpPr/>
          <p:nvPr/>
        </p:nvSpPr>
        <p:spPr>
          <a:xfrm>
            <a:off x="11155680" y="21378329"/>
            <a:ext cx="5074920" cy="960120"/>
          </a:xfrm>
          <a:prstGeom prst="rect">
            <a:avLst/>
          </a:prstGeom>
          <a:solidFill>
            <a:srgbClr val="FFFFFF"/>
          </a:solidFill>
          <a:ln w="25400">
            <a:solidFill>
              <a:srgbClr val="1B6E8C"/>
            </a:solidFill>
            <a:prstDash val="solid"/>
          </a:ln>
          <a:effectLst>
            <a:outerShdw blurRad="76200" dist="25400" dir="5400000" algn="bl" rotWithShape="0">
              <a:srgbClr val="000000">
                <a:alpha val="10000"/>
              </a:srgbClr>
            </a:outerShdw>
          </a:effectLst>
        </p:spPr>
        <p:txBody>
          <a:bodyPr/>
          <a:lstStyle/>
          <a:p>
            <a:endParaRPr lang="en-US"/>
          </a:p>
        </p:txBody>
      </p:sp>
      <p:sp>
        <p:nvSpPr>
          <p:cNvPr id="125" name="Shape 116"/>
          <p:cNvSpPr/>
          <p:nvPr/>
        </p:nvSpPr>
        <p:spPr>
          <a:xfrm>
            <a:off x="11155680" y="21378329"/>
            <a:ext cx="5074920" cy="73152"/>
          </a:xfrm>
          <a:prstGeom prst="rect">
            <a:avLst/>
          </a:prstGeom>
          <a:solidFill>
            <a:srgbClr val="1B6E8C"/>
          </a:solidFill>
          <a:ln w="12700">
            <a:solidFill>
              <a:srgbClr val="1B6E8C"/>
            </a:solidFill>
            <a:prstDash val="solid"/>
          </a:ln>
        </p:spPr>
        <p:txBody>
          <a:bodyPr/>
          <a:lstStyle/>
          <a:p>
            <a:endParaRPr lang="en-US"/>
          </a:p>
        </p:txBody>
      </p:sp>
      <p:sp>
        <p:nvSpPr>
          <p:cNvPr id="126" name="Text 117"/>
          <p:cNvSpPr/>
          <p:nvPr/>
        </p:nvSpPr>
        <p:spPr>
          <a:xfrm>
            <a:off x="11247120" y="21542921"/>
            <a:ext cx="2131466" cy="777240"/>
          </a:xfrm>
          <a:prstGeom prst="rect">
            <a:avLst/>
          </a:prstGeom>
          <a:noFill/>
          <a:ln/>
        </p:spPr>
        <p:txBody>
          <a:bodyPr wrap="square" lIns="0" tIns="0" rIns="0" bIns="0" rtlCol="0" anchor="ctr"/>
          <a:lstStyle/>
          <a:p>
            <a:pPr marL="0" indent="0" algn="ctr">
              <a:buNone/>
            </a:pPr>
            <a:r>
              <a:rPr lang="en-US" sz="5000" b="1" dirty="0">
                <a:solidFill>
                  <a:srgbClr val="0F2847"/>
                </a:solidFill>
                <a:latin typeface="Calibri" pitchFamily="34" charset="0"/>
                <a:ea typeface="Calibri" pitchFamily="34" charset="-122"/>
                <a:cs typeface="Calibri" pitchFamily="34" charset="-120"/>
              </a:rPr>
              <a:t>0.85</a:t>
            </a:r>
            <a:endParaRPr lang="en-US" sz="5000" dirty="0"/>
          </a:p>
        </p:txBody>
      </p:sp>
      <p:sp>
        <p:nvSpPr>
          <p:cNvPr id="127" name="Text 118"/>
          <p:cNvSpPr/>
          <p:nvPr/>
        </p:nvSpPr>
        <p:spPr>
          <a:xfrm>
            <a:off x="13439394" y="21542921"/>
            <a:ext cx="2689708" cy="384048"/>
          </a:xfrm>
          <a:prstGeom prst="rect">
            <a:avLst/>
          </a:prstGeom>
          <a:noFill/>
          <a:ln/>
        </p:spPr>
        <p:txBody>
          <a:bodyPr wrap="square" lIns="0" tIns="0" rIns="0" bIns="0" rtlCol="0" anchor="ctr"/>
          <a:lstStyle/>
          <a:p>
            <a:pPr marL="0" indent="0" algn="l">
              <a:buNone/>
            </a:pPr>
            <a:r>
              <a:rPr lang="en-US" sz="1700" b="1" dirty="0">
                <a:solidFill>
                  <a:srgbClr val="0F2847"/>
                </a:solidFill>
                <a:latin typeface="Calibri" pitchFamily="34" charset="0"/>
                <a:ea typeface="Calibri" pitchFamily="34" charset="-122"/>
                <a:cs typeface="Calibri" pitchFamily="34" charset="-120"/>
              </a:rPr>
              <a:t>KGE @ 50% removed</a:t>
            </a:r>
            <a:endParaRPr lang="en-US" sz="1700" dirty="0"/>
          </a:p>
        </p:txBody>
      </p:sp>
      <p:sp>
        <p:nvSpPr>
          <p:cNvPr id="128" name="Text 119"/>
          <p:cNvSpPr/>
          <p:nvPr/>
        </p:nvSpPr>
        <p:spPr>
          <a:xfrm>
            <a:off x="13439394" y="21908681"/>
            <a:ext cx="2689708" cy="329184"/>
          </a:xfrm>
          <a:prstGeom prst="rect">
            <a:avLst/>
          </a:prstGeom>
          <a:noFill/>
          <a:ln/>
        </p:spPr>
        <p:txBody>
          <a:bodyPr wrap="square" lIns="0" tIns="0" rIns="0" bIns="0" rtlCol="0" anchor="ctr"/>
          <a:lstStyle/>
          <a:p>
            <a:pPr marL="0" indent="0" algn="l">
              <a:buNone/>
            </a:pPr>
            <a:r>
              <a:rPr lang="en-US" sz="1200" i="1" dirty="0">
                <a:solidFill>
                  <a:srgbClr val="475569"/>
                </a:solidFill>
                <a:latin typeface="Calibri" pitchFamily="34" charset="0"/>
                <a:ea typeface="Calibri" pitchFamily="34" charset="-122"/>
                <a:cs typeface="Calibri" pitchFamily="34" charset="-120"/>
              </a:rPr>
              <a:t>50 trials per missing-rate level</a:t>
            </a:r>
            <a:endParaRPr lang="en-US" sz="1200" dirty="0"/>
          </a:p>
        </p:txBody>
      </p:sp>
      <p:sp>
        <p:nvSpPr>
          <p:cNvPr id="129" name="Shape 120"/>
          <p:cNvSpPr/>
          <p:nvPr/>
        </p:nvSpPr>
        <p:spPr>
          <a:xfrm>
            <a:off x="16413480" y="21378329"/>
            <a:ext cx="5074920" cy="960120"/>
          </a:xfrm>
          <a:prstGeom prst="rect">
            <a:avLst/>
          </a:prstGeom>
          <a:solidFill>
            <a:srgbClr val="FFFFFF"/>
          </a:solidFill>
          <a:ln w="25400">
            <a:solidFill>
              <a:srgbClr val="1B6E8C"/>
            </a:solidFill>
            <a:prstDash val="solid"/>
          </a:ln>
          <a:effectLst>
            <a:outerShdw blurRad="76200" dist="25400" dir="5400000" algn="bl" rotWithShape="0">
              <a:srgbClr val="000000">
                <a:alpha val="10000"/>
              </a:srgbClr>
            </a:outerShdw>
          </a:effectLst>
        </p:spPr>
        <p:txBody>
          <a:bodyPr/>
          <a:lstStyle/>
          <a:p>
            <a:endParaRPr lang="en-US"/>
          </a:p>
        </p:txBody>
      </p:sp>
      <p:sp>
        <p:nvSpPr>
          <p:cNvPr id="130" name="Shape 121"/>
          <p:cNvSpPr/>
          <p:nvPr/>
        </p:nvSpPr>
        <p:spPr>
          <a:xfrm>
            <a:off x="16413480" y="21378329"/>
            <a:ext cx="5074920" cy="73152"/>
          </a:xfrm>
          <a:prstGeom prst="rect">
            <a:avLst/>
          </a:prstGeom>
          <a:solidFill>
            <a:srgbClr val="1B6E8C"/>
          </a:solidFill>
          <a:ln w="12700">
            <a:solidFill>
              <a:srgbClr val="1B6E8C"/>
            </a:solidFill>
            <a:prstDash val="solid"/>
          </a:ln>
        </p:spPr>
        <p:txBody>
          <a:bodyPr/>
          <a:lstStyle/>
          <a:p>
            <a:endParaRPr lang="en-US"/>
          </a:p>
        </p:txBody>
      </p:sp>
      <p:sp>
        <p:nvSpPr>
          <p:cNvPr id="131" name="Text 122"/>
          <p:cNvSpPr/>
          <p:nvPr/>
        </p:nvSpPr>
        <p:spPr>
          <a:xfrm>
            <a:off x="16504920" y="21542921"/>
            <a:ext cx="2131466" cy="777240"/>
          </a:xfrm>
          <a:prstGeom prst="rect">
            <a:avLst/>
          </a:prstGeom>
          <a:noFill/>
          <a:ln/>
        </p:spPr>
        <p:txBody>
          <a:bodyPr wrap="square" lIns="0" tIns="0" rIns="0" bIns="0" rtlCol="0" anchor="ctr"/>
          <a:lstStyle/>
          <a:p>
            <a:pPr marL="0" indent="0" algn="ctr">
              <a:buNone/>
            </a:pPr>
            <a:r>
              <a:rPr lang="en-US" sz="5000" b="1" dirty="0">
                <a:solidFill>
                  <a:srgbClr val="0F2847"/>
                </a:solidFill>
                <a:latin typeface="Calibri" pitchFamily="34" charset="0"/>
                <a:ea typeface="Calibri" pitchFamily="34" charset="-122"/>
                <a:cs typeface="Calibri" pitchFamily="34" charset="-120"/>
              </a:rPr>
              <a:t>0.82</a:t>
            </a:r>
            <a:endParaRPr lang="en-US" sz="5000" dirty="0"/>
          </a:p>
        </p:txBody>
      </p:sp>
      <p:sp>
        <p:nvSpPr>
          <p:cNvPr id="132" name="Text 123"/>
          <p:cNvSpPr/>
          <p:nvPr/>
        </p:nvSpPr>
        <p:spPr>
          <a:xfrm>
            <a:off x="18697194" y="21542921"/>
            <a:ext cx="2689708" cy="384048"/>
          </a:xfrm>
          <a:prstGeom prst="rect">
            <a:avLst/>
          </a:prstGeom>
          <a:noFill/>
          <a:ln/>
        </p:spPr>
        <p:txBody>
          <a:bodyPr wrap="square" lIns="0" tIns="0" rIns="0" bIns="0" rtlCol="0" anchor="ctr"/>
          <a:lstStyle/>
          <a:p>
            <a:pPr marL="0" indent="0" algn="l">
              <a:buNone/>
            </a:pPr>
            <a:r>
              <a:rPr lang="en-US" sz="1700" b="1" dirty="0">
                <a:solidFill>
                  <a:srgbClr val="0F2847"/>
                </a:solidFill>
                <a:latin typeface="Calibri" pitchFamily="34" charset="0"/>
                <a:ea typeface="Calibri" pitchFamily="34" charset="-122"/>
                <a:cs typeface="Calibri" pitchFamily="34" charset="-120"/>
              </a:rPr>
              <a:t>KGE @ 5-yr gap</a:t>
            </a:r>
            <a:endParaRPr lang="en-US" sz="1700" dirty="0"/>
          </a:p>
        </p:txBody>
      </p:sp>
      <p:sp>
        <p:nvSpPr>
          <p:cNvPr id="133" name="Text 124"/>
          <p:cNvSpPr/>
          <p:nvPr/>
        </p:nvSpPr>
        <p:spPr>
          <a:xfrm>
            <a:off x="18697194" y="21908681"/>
            <a:ext cx="2689708" cy="329184"/>
          </a:xfrm>
          <a:prstGeom prst="rect">
            <a:avLst/>
          </a:prstGeom>
          <a:noFill/>
          <a:ln/>
        </p:spPr>
        <p:txBody>
          <a:bodyPr wrap="square" lIns="0" tIns="0" rIns="0" bIns="0" rtlCol="0" anchor="ctr"/>
          <a:lstStyle/>
          <a:p>
            <a:pPr marL="0" indent="0" algn="l">
              <a:buNone/>
            </a:pPr>
            <a:r>
              <a:rPr lang="en-US" sz="1200" i="1" dirty="0">
                <a:solidFill>
                  <a:srgbClr val="475569"/>
                </a:solidFill>
                <a:latin typeface="Calibri" pitchFamily="34" charset="0"/>
                <a:ea typeface="Calibri" pitchFamily="34" charset="-122"/>
                <a:cs typeface="Calibri" pitchFamily="34" charset="-120"/>
              </a:rPr>
              <a:t>20 trials per gap-length level</a:t>
            </a:r>
            <a:endParaRPr lang="en-US" sz="1200" dirty="0"/>
          </a:p>
        </p:txBody>
      </p:sp>
      <p:sp>
        <p:nvSpPr>
          <p:cNvPr id="134" name="Text 125"/>
          <p:cNvSpPr/>
          <p:nvPr/>
        </p:nvSpPr>
        <p:spPr>
          <a:xfrm>
            <a:off x="11155680" y="22612769"/>
            <a:ext cx="10332720" cy="329184"/>
          </a:xfrm>
          <a:prstGeom prst="rect">
            <a:avLst/>
          </a:prstGeom>
          <a:noFill/>
          <a:ln/>
        </p:spPr>
        <p:txBody>
          <a:bodyPr wrap="square" lIns="0" tIns="0" rIns="0" bIns="0" rtlCol="0" anchor="ctr"/>
          <a:lstStyle/>
          <a:p>
            <a:pPr marL="0" indent="0">
              <a:buNone/>
            </a:pPr>
            <a:r>
              <a:rPr lang="en-US" sz="1900" b="1" dirty="0">
                <a:solidFill>
                  <a:srgbClr val="0F2847"/>
                </a:solidFill>
                <a:latin typeface="Calibri" pitchFamily="34" charset="0"/>
                <a:ea typeface="Calibri" pitchFamily="34" charset="-122"/>
                <a:cs typeface="Calibri" pitchFamily="34" charset="-120"/>
              </a:rPr>
              <a:t>Random missing data (50 trials / level)</a:t>
            </a:r>
            <a:endParaRPr lang="en-US" sz="1900" dirty="0"/>
          </a:p>
        </p:txBody>
      </p:sp>
      <p:graphicFrame>
        <p:nvGraphicFramePr>
          <p:cNvPr id="135" name="Table 0"/>
          <p:cNvGraphicFramePr>
            <a:graphicFrameLocks noGrp="1"/>
          </p:cNvGraphicFramePr>
          <p:nvPr>
            <p:extLst>
              <p:ext uri="{D42A27DB-BD31-4B8C-83A1-F6EECF244321}">
                <p14:modId xmlns:p14="http://schemas.microsoft.com/office/powerpoint/2010/main" val="1579011935"/>
              </p:ext>
            </p:extLst>
          </p:nvPr>
        </p:nvGraphicFramePr>
        <p:xfrm>
          <a:off x="11155680" y="22996817"/>
          <a:ext cx="10332721" cy="1767840"/>
        </p:xfrm>
        <a:graphic>
          <a:graphicData uri="http://schemas.openxmlformats.org/drawingml/2006/table">
            <a:tbl>
              <a:tblPr/>
              <a:tblGrid>
                <a:gridCol w="3099816">
                  <a:extLst>
                    <a:ext uri="{9D8B030D-6E8A-4147-A177-3AD203B41FA5}">
                      <a16:colId xmlns:a16="http://schemas.microsoft.com/office/drawing/2014/main" val="20000"/>
                    </a:ext>
                  </a:extLst>
                </a:gridCol>
                <a:gridCol w="2376526">
                  <a:extLst>
                    <a:ext uri="{9D8B030D-6E8A-4147-A177-3AD203B41FA5}">
                      <a16:colId xmlns:a16="http://schemas.microsoft.com/office/drawing/2014/main" val="20001"/>
                    </a:ext>
                  </a:extLst>
                </a:gridCol>
                <a:gridCol w="2376526">
                  <a:extLst>
                    <a:ext uri="{9D8B030D-6E8A-4147-A177-3AD203B41FA5}">
                      <a16:colId xmlns:a16="http://schemas.microsoft.com/office/drawing/2014/main" val="20002"/>
                    </a:ext>
                  </a:extLst>
                </a:gridCol>
                <a:gridCol w="2479853">
                  <a:extLst>
                    <a:ext uri="{9D8B030D-6E8A-4147-A177-3AD203B41FA5}">
                      <a16:colId xmlns:a16="http://schemas.microsoft.com/office/drawing/2014/main" val="20003"/>
                    </a:ext>
                  </a:extLst>
                </a:gridCol>
              </a:tblGrid>
              <a:tr h="347472">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 Removed</a:t>
                      </a:r>
                      <a:endParaRPr lang="en-US" sz="1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6E8C"/>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KGE</a:t>
                      </a:r>
                      <a:endParaRPr lang="en-US" sz="1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6E8C"/>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R²</a:t>
                      </a:r>
                      <a:endParaRPr lang="en-US" sz="1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6E8C"/>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RMSE (ft)</a:t>
                      </a:r>
                      <a:endParaRPr lang="en-US" sz="1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6E8C"/>
                    </a:solidFill>
                  </a:tcPr>
                </a:tc>
                <a:extLst>
                  <a:ext uri="{0D108BD9-81ED-4DB2-BD59-A6C34878D82A}">
                    <a16:rowId xmlns:a16="http://schemas.microsoft.com/office/drawing/2014/main" val="10000"/>
                  </a:ext>
                </a:extLst>
              </a:tr>
              <a:tr h="347472">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0.837</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0.771</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2.53</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20%</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0.853</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0.787</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2.64</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30%</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0.844</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0.770</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2.79</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ctr">
                        <a:buNone/>
                      </a:pPr>
                      <a:r>
                        <a:rPr lang="en-US" sz="1700" b="1" dirty="0">
                          <a:solidFill>
                            <a:srgbClr val="0F2847"/>
                          </a:solidFill>
                          <a:latin typeface="Calibri" pitchFamily="34" charset="0"/>
                          <a:ea typeface="Calibri" pitchFamily="34" charset="-122"/>
                          <a:cs typeface="Calibri" pitchFamily="34" charset="-120"/>
                        </a:rPr>
                        <a:t>50%</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EBC0"/>
                    </a:solidFill>
                  </a:tcPr>
                </a:tc>
                <a:tc>
                  <a:txBody>
                    <a:bodyPr/>
                    <a:lstStyle/>
                    <a:p>
                      <a:pPr marL="0" indent="0" algn="ctr">
                        <a:buNone/>
                      </a:pPr>
                      <a:r>
                        <a:rPr lang="en-US" sz="1700" b="1" dirty="0">
                          <a:solidFill>
                            <a:srgbClr val="0F2847"/>
                          </a:solidFill>
                          <a:latin typeface="Calibri" pitchFamily="34" charset="0"/>
                          <a:ea typeface="Calibri" pitchFamily="34" charset="-122"/>
                          <a:cs typeface="Calibri" pitchFamily="34" charset="-120"/>
                        </a:rPr>
                        <a:t>0.847</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EBC0"/>
                    </a:solidFill>
                  </a:tcPr>
                </a:tc>
                <a:tc>
                  <a:txBody>
                    <a:bodyPr/>
                    <a:lstStyle/>
                    <a:p>
                      <a:pPr marL="0" indent="0" algn="ctr">
                        <a:buNone/>
                      </a:pPr>
                      <a:r>
                        <a:rPr lang="en-US" sz="1700" b="1" dirty="0">
                          <a:solidFill>
                            <a:srgbClr val="0F2847"/>
                          </a:solidFill>
                          <a:latin typeface="Calibri" pitchFamily="34" charset="0"/>
                          <a:ea typeface="Calibri" pitchFamily="34" charset="-122"/>
                          <a:cs typeface="Calibri" pitchFamily="34" charset="-120"/>
                        </a:rPr>
                        <a:t>0.788</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EBC0"/>
                    </a:solidFill>
                  </a:tcPr>
                </a:tc>
                <a:tc>
                  <a:txBody>
                    <a:bodyPr/>
                    <a:lstStyle/>
                    <a:p>
                      <a:pPr marL="0" indent="0" algn="ctr">
                        <a:buNone/>
                      </a:pPr>
                      <a:r>
                        <a:rPr lang="en-US" sz="1700" b="1" dirty="0">
                          <a:solidFill>
                            <a:srgbClr val="0F2847"/>
                          </a:solidFill>
                          <a:latin typeface="Calibri" pitchFamily="34" charset="0"/>
                          <a:ea typeface="Calibri" pitchFamily="34" charset="-122"/>
                          <a:cs typeface="Calibri" pitchFamily="34" charset="-120"/>
                        </a:rPr>
                        <a:t>2.74</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EBC0"/>
                    </a:solidFill>
                  </a:tcPr>
                </a:tc>
                <a:extLst>
                  <a:ext uri="{0D108BD9-81ED-4DB2-BD59-A6C34878D82A}">
                    <a16:rowId xmlns:a16="http://schemas.microsoft.com/office/drawing/2014/main" val="10004"/>
                  </a:ext>
                </a:extLst>
              </a:tr>
            </a:tbl>
          </a:graphicData>
        </a:graphic>
      </p:graphicFrame>
      <p:sp>
        <p:nvSpPr>
          <p:cNvPr id="136" name="Text 126"/>
          <p:cNvSpPr/>
          <p:nvPr/>
        </p:nvSpPr>
        <p:spPr>
          <a:xfrm>
            <a:off x="11155680" y="24843905"/>
            <a:ext cx="10332720" cy="329184"/>
          </a:xfrm>
          <a:prstGeom prst="rect">
            <a:avLst/>
          </a:prstGeom>
          <a:noFill/>
          <a:ln/>
        </p:spPr>
        <p:txBody>
          <a:bodyPr wrap="square" lIns="0" tIns="0" rIns="0" bIns="0" rtlCol="0" anchor="ctr"/>
          <a:lstStyle/>
          <a:p>
            <a:pPr marL="0" indent="0">
              <a:buNone/>
            </a:pPr>
            <a:r>
              <a:rPr lang="en-US" sz="1900" b="1" dirty="0">
                <a:solidFill>
                  <a:srgbClr val="0F2847"/>
                </a:solidFill>
                <a:latin typeface="Calibri" pitchFamily="34" charset="0"/>
                <a:ea typeface="Calibri" pitchFamily="34" charset="-122"/>
                <a:cs typeface="Calibri" pitchFamily="34" charset="-120"/>
              </a:rPr>
              <a:t>Consecutive-year gaps (20 trials / level)</a:t>
            </a:r>
            <a:endParaRPr lang="en-US" sz="1900" dirty="0"/>
          </a:p>
        </p:txBody>
      </p:sp>
      <p:graphicFrame>
        <p:nvGraphicFramePr>
          <p:cNvPr id="137" name="Table 1"/>
          <p:cNvGraphicFramePr>
            <a:graphicFrameLocks noGrp="1"/>
          </p:cNvGraphicFramePr>
          <p:nvPr>
            <p:extLst>
              <p:ext uri="{D42A27DB-BD31-4B8C-83A1-F6EECF244321}">
                <p14:modId xmlns:p14="http://schemas.microsoft.com/office/powerpoint/2010/main" val="1579011935"/>
              </p:ext>
            </p:extLst>
          </p:nvPr>
        </p:nvGraphicFramePr>
        <p:xfrm>
          <a:off x="11155680" y="25227953"/>
          <a:ext cx="10332721" cy="1417320"/>
        </p:xfrm>
        <a:graphic>
          <a:graphicData uri="http://schemas.openxmlformats.org/drawingml/2006/table">
            <a:tbl>
              <a:tblPr/>
              <a:tblGrid>
                <a:gridCol w="3099816">
                  <a:extLst>
                    <a:ext uri="{9D8B030D-6E8A-4147-A177-3AD203B41FA5}">
                      <a16:colId xmlns:a16="http://schemas.microsoft.com/office/drawing/2014/main" val="20000"/>
                    </a:ext>
                  </a:extLst>
                </a:gridCol>
                <a:gridCol w="2376526">
                  <a:extLst>
                    <a:ext uri="{9D8B030D-6E8A-4147-A177-3AD203B41FA5}">
                      <a16:colId xmlns:a16="http://schemas.microsoft.com/office/drawing/2014/main" val="20001"/>
                    </a:ext>
                  </a:extLst>
                </a:gridCol>
                <a:gridCol w="2376526">
                  <a:extLst>
                    <a:ext uri="{9D8B030D-6E8A-4147-A177-3AD203B41FA5}">
                      <a16:colId xmlns:a16="http://schemas.microsoft.com/office/drawing/2014/main" val="20002"/>
                    </a:ext>
                  </a:extLst>
                </a:gridCol>
                <a:gridCol w="2479853">
                  <a:extLst>
                    <a:ext uri="{9D8B030D-6E8A-4147-A177-3AD203B41FA5}">
                      <a16:colId xmlns:a16="http://schemas.microsoft.com/office/drawing/2014/main" val="20003"/>
                    </a:ext>
                  </a:extLst>
                </a:gridCol>
              </a:tblGrid>
              <a:tr h="347472">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Gap length</a:t>
                      </a:r>
                      <a:endParaRPr lang="en-US" sz="1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6E8C"/>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KGE</a:t>
                      </a:r>
                      <a:endParaRPr lang="en-US" sz="1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6E8C"/>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R²</a:t>
                      </a:r>
                      <a:endParaRPr lang="en-US" sz="1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6E8C"/>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RMSE (ft)</a:t>
                      </a:r>
                      <a:endParaRPr lang="en-US" sz="1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6E8C"/>
                    </a:solidFill>
                  </a:tcPr>
                </a:tc>
                <a:extLst>
                  <a:ext uri="{0D108BD9-81ED-4DB2-BD59-A6C34878D82A}">
                    <a16:rowId xmlns:a16="http://schemas.microsoft.com/office/drawing/2014/main" val="10000"/>
                  </a:ext>
                </a:extLst>
              </a:tr>
              <a:tr h="347472">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1 year</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0.783</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0.703</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2.98</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3 years</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0.802</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0.730</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700" dirty="0">
                          <a:solidFill>
                            <a:srgbClr val="0F2847"/>
                          </a:solidFill>
                          <a:latin typeface="Calibri" pitchFamily="34" charset="0"/>
                          <a:ea typeface="Calibri" pitchFamily="34" charset="-122"/>
                          <a:cs typeface="Calibri" pitchFamily="34" charset="-120"/>
                        </a:rPr>
                        <a:t>3.02</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lgn="ctr">
                        <a:buNone/>
                      </a:pPr>
                      <a:r>
                        <a:rPr lang="en-US" sz="1700" b="1" dirty="0">
                          <a:solidFill>
                            <a:srgbClr val="0F2847"/>
                          </a:solidFill>
                          <a:latin typeface="Calibri" pitchFamily="34" charset="0"/>
                          <a:ea typeface="Calibri" pitchFamily="34" charset="-122"/>
                          <a:cs typeface="Calibri" pitchFamily="34" charset="-120"/>
                        </a:rPr>
                        <a:t>5 years</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EBC0"/>
                    </a:solidFill>
                  </a:tcPr>
                </a:tc>
                <a:tc>
                  <a:txBody>
                    <a:bodyPr/>
                    <a:lstStyle/>
                    <a:p>
                      <a:pPr marL="0" indent="0" algn="ctr">
                        <a:buNone/>
                      </a:pPr>
                      <a:r>
                        <a:rPr lang="en-US" sz="1700" b="1" dirty="0">
                          <a:solidFill>
                            <a:srgbClr val="0F2847"/>
                          </a:solidFill>
                          <a:latin typeface="Calibri" pitchFamily="34" charset="0"/>
                          <a:ea typeface="Calibri" pitchFamily="34" charset="-122"/>
                          <a:cs typeface="Calibri" pitchFamily="34" charset="-120"/>
                        </a:rPr>
                        <a:t>0.815</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EBC0"/>
                    </a:solidFill>
                  </a:tcPr>
                </a:tc>
                <a:tc>
                  <a:txBody>
                    <a:bodyPr/>
                    <a:lstStyle/>
                    <a:p>
                      <a:pPr marL="0" indent="0" algn="ctr">
                        <a:buNone/>
                      </a:pPr>
                      <a:r>
                        <a:rPr lang="en-US" sz="1700" b="1" dirty="0">
                          <a:solidFill>
                            <a:srgbClr val="0F2847"/>
                          </a:solidFill>
                          <a:latin typeface="Calibri" pitchFamily="34" charset="0"/>
                          <a:ea typeface="Calibri" pitchFamily="34" charset="-122"/>
                          <a:cs typeface="Calibri" pitchFamily="34" charset="-120"/>
                        </a:rPr>
                        <a:t>0.744</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EBC0"/>
                    </a:solidFill>
                  </a:tcPr>
                </a:tc>
                <a:tc>
                  <a:txBody>
                    <a:bodyPr/>
                    <a:lstStyle/>
                    <a:p>
                      <a:pPr marL="0" indent="0" algn="ctr">
                        <a:buNone/>
                      </a:pPr>
                      <a:r>
                        <a:rPr lang="en-US" sz="1700" b="1" dirty="0">
                          <a:solidFill>
                            <a:srgbClr val="0F2847"/>
                          </a:solidFill>
                          <a:latin typeface="Calibri" pitchFamily="34" charset="0"/>
                          <a:ea typeface="Calibri" pitchFamily="34" charset="-122"/>
                          <a:cs typeface="Calibri" pitchFamily="34" charset="-120"/>
                        </a:rPr>
                        <a:t>2.91</a:t>
                      </a:r>
                      <a:endParaRPr lang="en-US" sz="17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AEBC0"/>
                    </a:solidFill>
                  </a:tcPr>
                </a:tc>
                <a:extLst>
                  <a:ext uri="{0D108BD9-81ED-4DB2-BD59-A6C34878D82A}">
                    <a16:rowId xmlns:a16="http://schemas.microsoft.com/office/drawing/2014/main" val="10003"/>
                  </a:ext>
                </a:extLst>
              </a:tr>
            </a:tbl>
          </a:graphicData>
        </a:graphic>
      </p:graphicFrame>
      <p:sp>
        <p:nvSpPr>
          <p:cNvPr id="138" name="Shape 127"/>
          <p:cNvSpPr/>
          <p:nvPr/>
        </p:nvSpPr>
        <p:spPr>
          <a:xfrm>
            <a:off x="11155680" y="26800721"/>
            <a:ext cx="868680" cy="868680"/>
          </a:xfrm>
          <a:prstGeom prst="ellipse">
            <a:avLst/>
          </a:prstGeom>
          <a:solidFill>
            <a:srgbClr val="1B6E8C"/>
          </a:solidFill>
          <a:ln w="12700">
            <a:solidFill>
              <a:srgbClr val="1B6E8C"/>
            </a:solidFill>
            <a:prstDash val="solid"/>
          </a:ln>
        </p:spPr>
        <p:txBody>
          <a:bodyPr/>
          <a:lstStyle/>
          <a:p>
            <a:endParaRPr lang="en-US"/>
          </a:p>
        </p:txBody>
      </p:sp>
      <p:sp>
        <p:nvSpPr>
          <p:cNvPr id="139" name="Text 128"/>
          <p:cNvSpPr/>
          <p:nvPr/>
        </p:nvSpPr>
        <p:spPr>
          <a:xfrm>
            <a:off x="11155680" y="26800721"/>
            <a:ext cx="868680" cy="86868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7</a:t>
            </a:r>
            <a:endParaRPr lang="en-US" sz="4000" dirty="0"/>
          </a:p>
        </p:txBody>
      </p:sp>
      <p:sp>
        <p:nvSpPr>
          <p:cNvPr id="140" name="Text 129"/>
          <p:cNvSpPr/>
          <p:nvPr/>
        </p:nvSpPr>
        <p:spPr>
          <a:xfrm>
            <a:off x="12161520" y="26800721"/>
            <a:ext cx="9326880" cy="868680"/>
          </a:xfrm>
          <a:prstGeom prst="rect">
            <a:avLst/>
          </a:prstGeom>
          <a:noFill/>
          <a:ln/>
        </p:spPr>
        <p:txBody>
          <a:bodyPr wrap="square" lIns="0" tIns="0" rIns="0" bIns="0" rtlCol="0" anchor="ctr"/>
          <a:lstStyle/>
          <a:p>
            <a:pPr marL="0" indent="0" algn="l">
              <a:buNone/>
            </a:pPr>
            <a:r>
              <a:rPr lang="en-US" sz="3400" b="1" dirty="0">
                <a:solidFill>
                  <a:srgbClr val="0F2847"/>
                </a:solidFill>
                <a:latin typeface="Calibri" pitchFamily="34" charset="0"/>
                <a:ea typeface="Calibri" pitchFamily="34" charset="-122"/>
                <a:cs typeface="Calibri" pitchFamily="34" charset="-120"/>
              </a:rPr>
              <a:t>Conclusions &amp; Applicability</a:t>
            </a:r>
            <a:endParaRPr lang="en-US" sz="3400" dirty="0"/>
          </a:p>
        </p:txBody>
      </p:sp>
      <p:sp>
        <p:nvSpPr>
          <p:cNvPr id="141" name="Shape 130"/>
          <p:cNvSpPr/>
          <p:nvPr/>
        </p:nvSpPr>
        <p:spPr>
          <a:xfrm>
            <a:off x="12161520" y="27605393"/>
            <a:ext cx="9326880" cy="54864"/>
          </a:xfrm>
          <a:prstGeom prst="rect">
            <a:avLst/>
          </a:prstGeom>
          <a:solidFill>
            <a:srgbClr val="1B6E8C"/>
          </a:solidFill>
          <a:ln w="12700">
            <a:solidFill>
              <a:srgbClr val="1B6E8C"/>
            </a:solidFill>
            <a:prstDash val="solid"/>
          </a:ln>
        </p:spPr>
        <p:txBody>
          <a:bodyPr/>
          <a:lstStyle/>
          <a:p>
            <a:endParaRPr lang="en-US"/>
          </a:p>
        </p:txBody>
      </p:sp>
      <p:sp>
        <p:nvSpPr>
          <p:cNvPr id="142" name="Shape 131"/>
          <p:cNvSpPr/>
          <p:nvPr/>
        </p:nvSpPr>
        <p:spPr>
          <a:xfrm>
            <a:off x="11155680" y="27907145"/>
            <a:ext cx="640080" cy="640080"/>
          </a:xfrm>
          <a:prstGeom prst="ellipse">
            <a:avLst/>
          </a:prstGeom>
          <a:solidFill>
            <a:srgbClr val="E8B830"/>
          </a:solidFill>
          <a:ln w="12700">
            <a:solidFill>
              <a:srgbClr val="E8B830"/>
            </a:solidFill>
            <a:prstDash val="solid"/>
          </a:ln>
        </p:spPr>
        <p:txBody>
          <a:bodyPr/>
          <a:lstStyle/>
          <a:p>
            <a:endParaRPr lang="en-US"/>
          </a:p>
        </p:txBody>
      </p:sp>
      <p:sp>
        <p:nvSpPr>
          <p:cNvPr id="143" name="Text 132"/>
          <p:cNvSpPr/>
          <p:nvPr/>
        </p:nvSpPr>
        <p:spPr>
          <a:xfrm>
            <a:off x="11155680" y="27907145"/>
            <a:ext cx="640080" cy="640080"/>
          </a:xfrm>
          <a:prstGeom prst="rect">
            <a:avLst/>
          </a:prstGeom>
          <a:noFill/>
          <a:ln/>
        </p:spPr>
        <p:txBody>
          <a:bodyPr wrap="square" lIns="0" tIns="0" rIns="0" bIns="0" rtlCol="0" anchor="ctr"/>
          <a:lstStyle/>
          <a:p>
            <a:pPr marL="0" indent="0" algn="ctr">
              <a:buNone/>
            </a:pPr>
            <a:r>
              <a:rPr lang="en-US" sz="2800" b="1" dirty="0">
                <a:solidFill>
                  <a:srgbClr val="0F2847"/>
                </a:solidFill>
                <a:latin typeface="Calibri" pitchFamily="34" charset="0"/>
                <a:ea typeface="Calibri" pitchFamily="34" charset="-122"/>
                <a:cs typeface="Calibri" pitchFamily="34" charset="-120"/>
              </a:rPr>
              <a:t>①</a:t>
            </a:r>
            <a:endParaRPr lang="en-US" sz="2800" dirty="0"/>
          </a:p>
        </p:txBody>
      </p:sp>
      <p:sp>
        <p:nvSpPr>
          <p:cNvPr id="144" name="Text 133"/>
          <p:cNvSpPr/>
          <p:nvPr/>
        </p:nvSpPr>
        <p:spPr>
          <a:xfrm>
            <a:off x="11978640" y="27852281"/>
            <a:ext cx="9509760" cy="731520"/>
          </a:xfrm>
          <a:prstGeom prst="rect">
            <a:avLst/>
          </a:prstGeom>
          <a:noFill/>
          <a:ln/>
        </p:spPr>
        <p:txBody>
          <a:bodyPr wrap="square" lIns="0" tIns="0" rIns="0" bIns="0" rtlCol="0" anchor="t"/>
          <a:lstStyle/>
          <a:p>
            <a:pPr marL="0" indent="0">
              <a:spcAft>
                <a:spcPts val="200"/>
              </a:spcAft>
              <a:buNone/>
            </a:pPr>
            <a:r>
              <a:rPr lang="en-US" sz="2000" b="1" dirty="0">
                <a:solidFill>
                  <a:srgbClr val="0F2847"/>
                </a:solidFill>
                <a:latin typeface="Calibri" pitchFamily="34" charset="0"/>
                <a:ea typeface="Calibri" pitchFamily="34" charset="-122"/>
                <a:cs typeface="Calibri" pitchFamily="34" charset="-120"/>
              </a:rPr>
              <a:t>First hybrid MC+LNN framework  </a:t>
            </a:r>
            <a:r>
              <a:rPr lang="en-US" sz="2000" dirty="0">
                <a:solidFill>
                  <a:srgbClr val="0F2847"/>
                </a:solidFill>
                <a:latin typeface="Calibri" pitchFamily="34" charset="0"/>
                <a:ea typeface="Calibri" pitchFamily="34" charset="-122"/>
                <a:cs typeface="Calibri" pitchFamily="34" charset="-120"/>
              </a:rPr>
              <a:t>for groundwater: MC for cross-well correlations, LNN for continuous-time dynamics on climate auxiliaries.</a:t>
            </a:r>
            <a:endParaRPr lang="en-US" sz="2000" dirty="0"/>
          </a:p>
        </p:txBody>
      </p:sp>
      <p:sp>
        <p:nvSpPr>
          <p:cNvPr id="145" name="Shape 134"/>
          <p:cNvSpPr/>
          <p:nvPr/>
        </p:nvSpPr>
        <p:spPr>
          <a:xfrm>
            <a:off x="11155680" y="28684385"/>
            <a:ext cx="640080" cy="640080"/>
          </a:xfrm>
          <a:prstGeom prst="ellipse">
            <a:avLst/>
          </a:prstGeom>
          <a:solidFill>
            <a:srgbClr val="E8B830"/>
          </a:solidFill>
          <a:ln w="12700">
            <a:solidFill>
              <a:srgbClr val="E8B830"/>
            </a:solidFill>
            <a:prstDash val="solid"/>
          </a:ln>
        </p:spPr>
        <p:txBody>
          <a:bodyPr/>
          <a:lstStyle/>
          <a:p>
            <a:endParaRPr lang="en-US"/>
          </a:p>
        </p:txBody>
      </p:sp>
      <p:sp>
        <p:nvSpPr>
          <p:cNvPr id="146" name="Text 135"/>
          <p:cNvSpPr/>
          <p:nvPr/>
        </p:nvSpPr>
        <p:spPr>
          <a:xfrm>
            <a:off x="11155680" y="28684385"/>
            <a:ext cx="640080" cy="640080"/>
          </a:xfrm>
          <a:prstGeom prst="rect">
            <a:avLst/>
          </a:prstGeom>
          <a:noFill/>
          <a:ln/>
        </p:spPr>
        <p:txBody>
          <a:bodyPr wrap="square" lIns="0" tIns="0" rIns="0" bIns="0" rtlCol="0" anchor="ctr"/>
          <a:lstStyle/>
          <a:p>
            <a:pPr marL="0" indent="0" algn="ctr">
              <a:buNone/>
            </a:pPr>
            <a:r>
              <a:rPr lang="en-US" sz="2800" b="1" dirty="0">
                <a:solidFill>
                  <a:srgbClr val="0F2847"/>
                </a:solidFill>
                <a:latin typeface="Calibri" pitchFamily="34" charset="0"/>
                <a:ea typeface="Calibri" pitchFamily="34" charset="-122"/>
                <a:cs typeface="Calibri" pitchFamily="34" charset="-120"/>
              </a:rPr>
              <a:t>②</a:t>
            </a:r>
            <a:endParaRPr lang="en-US" sz="2800" dirty="0"/>
          </a:p>
        </p:txBody>
      </p:sp>
      <p:sp>
        <p:nvSpPr>
          <p:cNvPr id="147" name="Text 136"/>
          <p:cNvSpPr/>
          <p:nvPr/>
        </p:nvSpPr>
        <p:spPr>
          <a:xfrm>
            <a:off x="11978640" y="28629521"/>
            <a:ext cx="9509760" cy="731520"/>
          </a:xfrm>
          <a:prstGeom prst="rect">
            <a:avLst/>
          </a:prstGeom>
          <a:noFill/>
          <a:ln/>
        </p:spPr>
        <p:txBody>
          <a:bodyPr wrap="square" lIns="0" tIns="0" rIns="0" bIns="0" rtlCol="0" anchor="t"/>
          <a:lstStyle/>
          <a:p>
            <a:pPr marL="0" indent="0">
              <a:spcAft>
                <a:spcPts val="200"/>
              </a:spcAft>
              <a:buNone/>
            </a:pPr>
            <a:r>
              <a:rPr lang="en-US" sz="2000" b="1" dirty="0">
                <a:solidFill>
                  <a:srgbClr val="0F2847"/>
                </a:solidFill>
                <a:latin typeface="Calibri" pitchFamily="34" charset="0"/>
                <a:ea typeface="Calibri" pitchFamily="34" charset="-122"/>
                <a:cs typeface="Calibri" pitchFamily="34" charset="-120"/>
              </a:rPr>
              <a:t>KGE &gt; 0.84 (random ≤50%) and KGE &gt; 0.78 (gaps ≤5 yr)  </a:t>
            </a:r>
            <a:r>
              <a:rPr lang="en-US" sz="2000" dirty="0">
                <a:solidFill>
                  <a:srgbClr val="0F2847"/>
                </a:solidFill>
                <a:latin typeface="Calibri" pitchFamily="34" charset="0"/>
                <a:ea typeface="Calibri" pitchFamily="34" charset="-122"/>
                <a:cs typeface="Calibri" pitchFamily="34" charset="-120"/>
              </a:rPr>
              <a:t>— substantially exceeding prior ELM methods (beyond 2-yr gaps).</a:t>
            </a:r>
            <a:endParaRPr lang="en-US" sz="2000" dirty="0"/>
          </a:p>
        </p:txBody>
      </p:sp>
      <p:sp>
        <p:nvSpPr>
          <p:cNvPr id="148" name="Shape 137"/>
          <p:cNvSpPr/>
          <p:nvPr/>
        </p:nvSpPr>
        <p:spPr>
          <a:xfrm>
            <a:off x="11155680" y="29461625"/>
            <a:ext cx="640080" cy="640080"/>
          </a:xfrm>
          <a:prstGeom prst="ellipse">
            <a:avLst/>
          </a:prstGeom>
          <a:solidFill>
            <a:srgbClr val="E8B830"/>
          </a:solidFill>
          <a:ln w="12700">
            <a:solidFill>
              <a:srgbClr val="E8B830"/>
            </a:solidFill>
            <a:prstDash val="solid"/>
          </a:ln>
        </p:spPr>
        <p:txBody>
          <a:bodyPr/>
          <a:lstStyle/>
          <a:p>
            <a:endParaRPr lang="en-US"/>
          </a:p>
        </p:txBody>
      </p:sp>
      <p:sp>
        <p:nvSpPr>
          <p:cNvPr id="149" name="Text 138"/>
          <p:cNvSpPr/>
          <p:nvPr/>
        </p:nvSpPr>
        <p:spPr>
          <a:xfrm>
            <a:off x="11155680" y="29461625"/>
            <a:ext cx="640080" cy="640080"/>
          </a:xfrm>
          <a:prstGeom prst="rect">
            <a:avLst/>
          </a:prstGeom>
          <a:noFill/>
          <a:ln/>
        </p:spPr>
        <p:txBody>
          <a:bodyPr wrap="square" lIns="0" tIns="0" rIns="0" bIns="0" rtlCol="0" anchor="ctr"/>
          <a:lstStyle/>
          <a:p>
            <a:pPr marL="0" indent="0" algn="ctr">
              <a:buNone/>
            </a:pPr>
            <a:r>
              <a:rPr lang="en-US" sz="2800" b="1" dirty="0">
                <a:solidFill>
                  <a:srgbClr val="0F2847"/>
                </a:solidFill>
                <a:latin typeface="Calibri" pitchFamily="34" charset="0"/>
                <a:ea typeface="Calibri" pitchFamily="34" charset="-122"/>
                <a:cs typeface="Calibri" pitchFamily="34" charset="-120"/>
              </a:rPr>
              <a:t>③</a:t>
            </a:r>
            <a:endParaRPr lang="en-US" sz="2800" dirty="0"/>
          </a:p>
        </p:txBody>
      </p:sp>
      <p:sp>
        <p:nvSpPr>
          <p:cNvPr id="150" name="Text 139"/>
          <p:cNvSpPr/>
          <p:nvPr/>
        </p:nvSpPr>
        <p:spPr>
          <a:xfrm>
            <a:off x="11978640" y="29406761"/>
            <a:ext cx="9509760" cy="731520"/>
          </a:xfrm>
          <a:prstGeom prst="rect">
            <a:avLst/>
          </a:prstGeom>
          <a:noFill/>
          <a:ln/>
        </p:spPr>
        <p:txBody>
          <a:bodyPr wrap="square" lIns="0" tIns="0" rIns="0" bIns="0" rtlCol="0" anchor="t"/>
          <a:lstStyle/>
          <a:p>
            <a:pPr marL="0" indent="0">
              <a:spcAft>
                <a:spcPts val="200"/>
              </a:spcAft>
              <a:buNone/>
            </a:pPr>
            <a:r>
              <a:rPr lang="en-US" sz="2000" b="1" dirty="0">
                <a:solidFill>
                  <a:srgbClr val="0F2847"/>
                </a:solidFill>
                <a:latin typeface="Calibri" pitchFamily="34" charset="0"/>
                <a:ea typeface="Calibri" pitchFamily="34" charset="-122"/>
                <a:cs typeface="Calibri" pitchFamily="34" charset="-120"/>
              </a:rPr>
              <a:t>PCHIP densification  </a:t>
            </a:r>
            <a:r>
              <a:rPr lang="en-US" sz="2000" dirty="0">
                <a:solidFill>
                  <a:srgbClr val="0F2847"/>
                </a:solidFill>
                <a:latin typeface="Calibri" pitchFamily="34" charset="0"/>
                <a:ea typeface="Calibri" pitchFamily="34" charset="-122"/>
                <a:cs typeface="Calibri" pitchFamily="34" charset="-120"/>
              </a:rPr>
              <a:t>lifts the full pipeline by 10–19% KGE via stronger donor correlations.</a:t>
            </a:r>
            <a:endParaRPr lang="en-US" sz="2000" dirty="0"/>
          </a:p>
        </p:txBody>
      </p:sp>
      <p:sp>
        <p:nvSpPr>
          <p:cNvPr id="151" name="Shape 140"/>
          <p:cNvSpPr/>
          <p:nvPr/>
        </p:nvSpPr>
        <p:spPr>
          <a:xfrm>
            <a:off x="11155680" y="30238865"/>
            <a:ext cx="640080" cy="640080"/>
          </a:xfrm>
          <a:prstGeom prst="ellipse">
            <a:avLst/>
          </a:prstGeom>
          <a:solidFill>
            <a:srgbClr val="E8B830"/>
          </a:solidFill>
          <a:ln w="12700">
            <a:solidFill>
              <a:srgbClr val="E8B830"/>
            </a:solidFill>
            <a:prstDash val="solid"/>
          </a:ln>
        </p:spPr>
        <p:txBody>
          <a:bodyPr/>
          <a:lstStyle/>
          <a:p>
            <a:endParaRPr lang="en-US"/>
          </a:p>
        </p:txBody>
      </p:sp>
      <p:sp>
        <p:nvSpPr>
          <p:cNvPr id="152" name="Text 141"/>
          <p:cNvSpPr/>
          <p:nvPr/>
        </p:nvSpPr>
        <p:spPr>
          <a:xfrm>
            <a:off x="11155680" y="30238865"/>
            <a:ext cx="640080" cy="640080"/>
          </a:xfrm>
          <a:prstGeom prst="rect">
            <a:avLst/>
          </a:prstGeom>
          <a:noFill/>
          <a:ln/>
        </p:spPr>
        <p:txBody>
          <a:bodyPr wrap="square" lIns="0" tIns="0" rIns="0" bIns="0" rtlCol="0" anchor="ctr"/>
          <a:lstStyle/>
          <a:p>
            <a:pPr marL="0" indent="0" algn="ctr">
              <a:buNone/>
            </a:pPr>
            <a:r>
              <a:rPr lang="en-US" sz="2800" b="1" dirty="0">
                <a:solidFill>
                  <a:srgbClr val="0F2847"/>
                </a:solidFill>
                <a:latin typeface="Calibri" pitchFamily="34" charset="0"/>
                <a:ea typeface="Calibri" pitchFamily="34" charset="-122"/>
                <a:cs typeface="Calibri" pitchFamily="34" charset="-120"/>
              </a:rPr>
              <a:t>④</a:t>
            </a:r>
            <a:endParaRPr lang="en-US" sz="2800" dirty="0"/>
          </a:p>
        </p:txBody>
      </p:sp>
      <p:sp>
        <p:nvSpPr>
          <p:cNvPr id="153" name="Text 142"/>
          <p:cNvSpPr/>
          <p:nvPr/>
        </p:nvSpPr>
        <p:spPr>
          <a:xfrm>
            <a:off x="11978640" y="30184001"/>
            <a:ext cx="9509760" cy="731520"/>
          </a:xfrm>
          <a:prstGeom prst="rect">
            <a:avLst/>
          </a:prstGeom>
          <a:noFill/>
          <a:ln/>
        </p:spPr>
        <p:txBody>
          <a:bodyPr wrap="square" lIns="0" tIns="0" rIns="0" bIns="0" rtlCol="0" anchor="t"/>
          <a:lstStyle/>
          <a:p>
            <a:pPr marL="0" indent="0">
              <a:spcAft>
                <a:spcPts val="200"/>
              </a:spcAft>
              <a:buNone/>
            </a:pPr>
            <a:r>
              <a:rPr lang="en-US" sz="2000" b="1" dirty="0">
                <a:solidFill>
                  <a:srgbClr val="0F2847"/>
                </a:solidFill>
                <a:latin typeface="Calibri" pitchFamily="34" charset="0"/>
                <a:ea typeface="Calibri" pitchFamily="34" charset="-122"/>
                <a:cs typeface="Calibri" pitchFamily="34" charset="-120"/>
              </a:rPr>
              <a:t>Plug-and-play:  </a:t>
            </a:r>
            <a:r>
              <a:rPr lang="en-US" sz="2000" dirty="0">
                <a:solidFill>
                  <a:srgbClr val="0F2847"/>
                </a:solidFill>
                <a:latin typeface="Calibri" pitchFamily="34" charset="0"/>
                <a:ea typeface="Calibri" pitchFamily="34" charset="-122"/>
                <a:cs typeface="Calibri" pitchFamily="34" charset="-120"/>
              </a:rPr>
              <a:t>needs only incomplete well records + public GLDAS. No calibration.</a:t>
            </a:r>
            <a:endParaRPr lang="en-US" sz="2000" dirty="0"/>
          </a:p>
        </p:txBody>
      </p:sp>
      <p:sp>
        <p:nvSpPr>
          <p:cNvPr id="154" name="Shape 143"/>
          <p:cNvSpPr/>
          <p:nvPr/>
        </p:nvSpPr>
        <p:spPr>
          <a:xfrm>
            <a:off x="0" y="31501080"/>
            <a:ext cx="21945600" cy="1417320"/>
          </a:xfrm>
          <a:prstGeom prst="rect">
            <a:avLst/>
          </a:prstGeom>
          <a:solidFill>
            <a:srgbClr val="081A30"/>
          </a:solidFill>
          <a:ln w="12700">
            <a:solidFill>
              <a:srgbClr val="081A30"/>
            </a:solidFill>
            <a:prstDash val="solid"/>
          </a:ln>
        </p:spPr>
        <p:txBody>
          <a:bodyPr/>
          <a:lstStyle/>
          <a:p>
            <a:endParaRPr lang="en-US"/>
          </a:p>
        </p:txBody>
      </p:sp>
      <p:sp>
        <p:nvSpPr>
          <p:cNvPr id="155" name="Shape 144"/>
          <p:cNvSpPr/>
          <p:nvPr/>
        </p:nvSpPr>
        <p:spPr>
          <a:xfrm>
            <a:off x="0" y="31501080"/>
            <a:ext cx="21945600" cy="73152"/>
          </a:xfrm>
          <a:prstGeom prst="rect">
            <a:avLst/>
          </a:prstGeom>
          <a:solidFill>
            <a:srgbClr val="E8B830"/>
          </a:solidFill>
          <a:ln w="12700">
            <a:solidFill>
              <a:srgbClr val="E8B830"/>
            </a:solidFill>
            <a:prstDash val="solid"/>
          </a:ln>
        </p:spPr>
        <p:txBody>
          <a:bodyPr/>
          <a:lstStyle/>
          <a:p>
            <a:endParaRPr lang="en-US"/>
          </a:p>
        </p:txBody>
      </p:sp>
      <p:sp>
        <p:nvSpPr>
          <p:cNvPr id="156" name="Text 145"/>
          <p:cNvSpPr/>
          <p:nvPr/>
        </p:nvSpPr>
        <p:spPr>
          <a:xfrm>
            <a:off x="548640" y="31665672"/>
            <a:ext cx="5486400" cy="292608"/>
          </a:xfrm>
          <a:prstGeom prst="rect">
            <a:avLst/>
          </a:prstGeom>
          <a:noFill/>
          <a:ln/>
        </p:spPr>
        <p:txBody>
          <a:bodyPr wrap="square" lIns="0" tIns="0" rIns="0" bIns="0" rtlCol="0" anchor="ctr"/>
          <a:lstStyle/>
          <a:p>
            <a:pPr marL="0" indent="0">
              <a:buNone/>
            </a:pPr>
            <a:r>
              <a:rPr lang="en-US" sz="1600" b="1" kern="0" spc="400" dirty="0">
                <a:solidFill>
                  <a:srgbClr val="E8B830"/>
                </a:solidFill>
              </a:rPr>
              <a:t>ACKNOWLEDGMENTS</a:t>
            </a:r>
            <a:endParaRPr lang="en-US" sz="1600" dirty="0"/>
          </a:p>
        </p:txBody>
      </p:sp>
      <p:sp>
        <p:nvSpPr>
          <p:cNvPr id="157" name="Text 146"/>
          <p:cNvSpPr/>
          <p:nvPr/>
        </p:nvSpPr>
        <p:spPr>
          <a:xfrm>
            <a:off x="548640" y="31976568"/>
            <a:ext cx="13167360" cy="914400"/>
          </a:xfrm>
          <a:prstGeom prst="rect">
            <a:avLst/>
          </a:prstGeom>
          <a:noFill/>
          <a:ln/>
        </p:spPr>
        <p:txBody>
          <a:bodyPr wrap="square" lIns="0" tIns="0" rIns="0" bIns="0" rtlCol="0" anchor="t"/>
          <a:lstStyle/>
          <a:p>
            <a:pPr marL="0" indent="0">
              <a:buNone/>
            </a:pPr>
            <a:r>
              <a:rPr lang="en-US" sz="1400" i="1" dirty="0">
                <a:solidFill>
                  <a:srgbClr val="C5D2DD"/>
                </a:solidFill>
                <a:latin typeface="Calibri" pitchFamily="34" charset="0"/>
                <a:ea typeface="Calibri" pitchFamily="34" charset="-122"/>
                <a:cs typeface="Calibri" pitchFamily="34" charset="-120"/>
              </a:rPr>
              <a:t>Funding for this project was provided by the National Oceanic and Atmospheric Administration (NOAA), awarded to the Cooperative Institute for Research on Hydrology (CIROH) through the NOAA Cooperative Agreement with The University of Alabama. Grant number: A24-0421-S001.</a:t>
            </a:r>
            <a:endParaRPr lang="en-US" sz="1400" dirty="0"/>
          </a:p>
        </p:txBody>
      </p:sp>
      <p:sp>
        <p:nvSpPr>
          <p:cNvPr id="158" name="Shape 147"/>
          <p:cNvSpPr/>
          <p:nvPr/>
        </p:nvSpPr>
        <p:spPr>
          <a:xfrm>
            <a:off x="14081760" y="31729680"/>
            <a:ext cx="22860" cy="960120"/>
          </a:xfrm>
          <a:prstGeom prst="rect">
            <a:avLst/>
          </a:prstGeom>
          <a:solidFill>
            <a:srgbClr val="E8B830"/>
          </a:solidFill>
          <a:ln w="12700">
            <a:solidFill>
              <a:srgbClr val="E8B830"/>
            </a:solidFill>
            <a:prstDash val="solid"/>
          </a:ln>
        </p:spPr>
        <p:txBody>
          <a:bodyPr/>
          <a:lstStyle/>
          <a:p>
            <a:endParaRPr lang="en-US"/>
          </a:p>
        </p:txBody>
      </p:sp>
      <p:sp>
        <p:nvSpPr>
          <p:cNvPr id="159" name="Text 148"/>
          <p:cNvSpPr/>
          <p:nvPr/>
        </p:nvSpPr>
        <p:spPr>
          <a:xfrm>
            <a:off x="14356080" y="31665672"/>
            <a:ext cx="6400800" cy="292608"/>
          </a:xfrm>
          <a:prstGeom prst="rect">
            <a:avLst/>
          </a:prstGeom>
          <a:noFill/>
          <a:ln/>
        </p:spPr>
        <p:txBody>
          <a:bodyPr wrap="square" lIns="0" tIns="0" rIns="0" bIns="0" rtlCol="0" anchor="ctr"/>
          <a:lstStyle/>
          <a:p>
            <a:pPr marL="0" indent="0">
              <a:buNone/>
            </a:pPr>
            <a:r>
              <a:rPr lang="en-US" sz="1600" b="1" kern="0" spc="400" dirty="0">
                <a:solidFill>
                  <a:srgbClr val="E8B830"/>
                </a:solidFill>
              </a:rPr>
              <a:t>CORRESPONDING AUTHOR</a:t>
            </a:r>
            <a:endParaRPr lang="en-US" sz="1600" dirty="0"/>
          </a:p>
        </p:txBody>
      </p:sp>
      <p:sp>
        <p:nvSpPr>
          <p:cNvPr id="160" name="Text 149"/>
          <p:cNvSpPr/>
          <p:nvPr/>
        </p:nvSpPr>
        <p:spPr>
          <a:xfrm>
            <a:off x="14356080" y="31976568"/>
            <a:ext cx="7132320" cy="914400"/>
          </a:xfrm>
          <a:prstGeom prst="rect">
            <a:avLst/>
          </a:prstGeom>
          <a:noFill/>
          <a:ln/>
        </p:spPr>
        <p:txBody>
          <a:bodyPr wrap="square" lIns="0" tIns="0" rIns="0" bIns="0" rtlCol="0" anchor="t"/>
          <a:lstStyle/>
          <a:p>
            <a:pPr marL="0" indent="0" algn="l">
              <a:buNone/>
            </a:pPr>
            <a:r>
              <a:rPr lang="en-US" sz="2200" b="1" dirty="0">
                <a:solidFill>
                  <a:srgbClr val="FFFFFF"/>
                </a:solidFill>
                <a:latin typeface="Calibri" pitchFamily="34" charset="0"/>
                <a:ea typeface="Calibri" pitchFamily="34" charset="-122"/>
                <a:cs typeface="Calibri" pitchFamily="34" charset="-120"/>
              </a:rPr>
              <a:t>Henok Teklu</a:t>
            </a:r>
            <a:endParaRPr lang="en-US" sz="2200" dirty="0"/>
          </a:p>
          <a:p>
            <a:pPr marL="0" indent="0" algn="l">
              <a:buNone/>
            </a:pPr>
            <a:r>
              <a:rPr lang="en-US" sz="1900" dirty="0">
                <a:solidFill>
                  <a:srgbClr val="E8B830"/>
                </a:solidFill>
                <a:latin typeface="Calibri" pitchFamily="34" charset="0"/>
                <a:ea typeface="Calibri" pitchFamily="34" charset="-122"/>
                <a:cs typeface="Calibri" pitchFamily="34" charset="-120"/>
              </a:rPr>
              <a:t>anom37@byu.edu</a:t>
            </a:r>
            <a:endParaRPr lang="en-US" sz="2200" dirty="0"/>
          </a:p>
          <a:p>
            <a:pPr marL="0" indent="0" algn="l">
              <a:buNone/>
            </a:pPr>
            <a:r>
              <a:rPr lang="en-US" sz="1600" i="1" dirty="0">
                <a:solidFill>
                  <a:srgbClr val="C5D2DD"/>
                </a:solidFill>
                <a:latin typeface="Calibri" pitchFamily="34" charset="0"/>
                <a:ea typeface="Calibri" pitchFamily="34" charset="-122"/>
                <a:cs typeface="Calibri" pitchFamily="34" charset="-120"/>
              </a:rPr>
              <a:t>Brigham Young University</a:t>
            </a:r>
            <a:endParaRPr lang="en-US" sz="2200" dirty="0"/>
          </a:p>
        </p:txBody>
      </p:sp>
      <p:pic>
        <p:nvPicPr>
          <p:cNvPr id="1026" name="Picture 2" descr="A qr code with a few black squares&#10;&#10;AI-generated content may be incorrect.">
            <a:extLst>
              <a:ext uri="{FF2B5EF4-FFF2-40B4-BE49-F238E27FC236}">
                <a16:creationId xmlns:a16="http://schemas.microsoft.com/office/drawing/2014/main" id="{DFF55A27-232D-76BC-0CBC-67F3E08C285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619719" y="31649439"/>
            <a:ext cx="1143001" cy="11775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752</Words>
  <Application>Microsoft Macintosh PowerPoint</Application>
  <PresentationFormat>Custom</PresentationFormat>
  <Paragraphs>146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Consolas</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 + LNN Groundwater Imputation Poster</dc:title>
  <dc:subject>PptxGenJS Presentation</dc:subject>
  <dc:creator>Henok Teklu</dc:creator>
  <cp:lastModifiedBy>Henok Kiflom Teklu</cp:lastModifiedBy>
  <cp:revision>3</cp:revision>
  <dcterms:created xsi:type="dcterms:W3CDTF">2026-05-15T16:10:42Z</dcterms:created>
  <dcterms:modified xsi:type="dcterms:W3CDTF">2026-05-15T16:28:11Z</dcterms:modified>
</cp:coreProperties>
</file>